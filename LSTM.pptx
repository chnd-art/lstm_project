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9"/>
  </p:notesMasterIdLst>
  <p:sldIdLst>
    <p:sldId id="256" r:id="rId5"/>
    <p:sldId id="279" r:id="rId6"/>
    <p:sldId id="295" r:id="rId7"/>
    <p:sldId id="296" r:id="rId8"/>
    <p:sldId id="297" r:id="rId9"/>
    <p:sldId id="298" r:id="rId10"/>
    <p:sldId id="299" r:id="rId11"/>
    <p:sldId id="300"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30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3/26/2025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3/26/2025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3/26/2025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3/26/2025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3/26/2025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3/26/2025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3/26/2025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3/26/2025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3/26/2025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3/26/2025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3/26/2025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3/26/2025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3/26/2025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0"/>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003040" y="3361003"/>
            <a:ext cx="8188959" cy="1158937"/>
          </a:xfrm>
        </p:spPr>
        <p:txBody>
          <a:bodyPr anchor="b">
            <a:normAutofit/>
          </a:bodyPr>
          <a:lstStyle/>
          <a:p>
            <a:pPr>
              <a:lnSpc>
                <a:spcPts val="1425"/>
              </a:lnSpc>
            </a:pPr>
            <a:br>
              <a:rPr lang="en-US" sz="3200" b="1" dirty="0">
                <a:solidFill>
                  <a:srgbClr val="569CD6"/>
                </a:solidFill>
                <a:effectLst/>
                <a:latin typeface="Consolas" panose="020B0609020204030204" pitchFamily="49" charset="0"/>
              </a:rPr>
            </a:br>
            <a:br>
              <a:rPr lang="en-US" sz="3200" b="1" dirty="0">
                <a:solidFill>
                  <a:srgbClr val="569CD6"/>
                </a:solidFill>
                <a:effectLst/>
                <a:latin typeface="Consolas" panose="020B0609020204030204" pitchFamily="49" charset="0"/>
              </a:rPr>
            </a:br>
            <a:r>
              <a:rPr lang="en-US" sz="3200" b="1" dirty="0">
                <a:solidFill>
                  <a:srgbClr val="569CD6"/>
                </a:solidFill>
                <a:effectLst/>
                <a:latin typeface="Consolas" panose="020B0609020204030204" pitchFamily="49" charset="0"/>
              </a:rPr>
              <a:t>Next Word Prediction Using LSTM</a:t>
            </a:r>
            <a:endParaRPr lang="en-US" sz="3200" b="0" dirty="0">
              <a:solidFill>
                <a:srgbClr val="CCCCCC"/>
              </a:solidFill>
              <a:effectLst/>
              <a:latin typeface="Consolas" panose="020B0609020204030204" pitchFamily="49" charset="0"/>
            </a:endParaRP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a:bodyPr>
          <a:lstStyle/>
          <a:p>
            <a:r>
              <a:rPr lang="en-US" dirty="0">
                <a:solidFill>
                  <a:srgbClr val="FFFFFF"/>
                </a:solidFill>
              </a:rPr>
              <a:t>Hind Cherrat</a:t>
            </a:r>
          </a:p>
          <a:p>
            <a:endParaRPr lang="en-US"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7632-3A29-BDA2-7347-85168387F7D9}"/>
              </a:ext>
            </a:extLst>
          </p:cNvPr>
          <p:cNvSpPr>
            <a:spLocks noGrp="1"/>
          </p:cNvSpPr>
          <p:nvPr>
            <p:ph type="title"/>
          </p:nvPr>
        </p:nvSpPr>
        <p:spPr/>
        <p:txBody>
          <a:bodyPr/>
          <a:lstStyle/>
          <a:p>
            <a:r>
              <a:rPr lang="en-US" b="1" dirty="0">
                <a:solidFill>
                  <a:srgbClr val="569CD6"/>
                </a:solidFill>
                <a:effectLst/>
                <a:latin typeface="Consolas" panose="020B0609020204030204" pitchFamily="49" charset="0"/>
              </a:rPr>
              <a:t>Objectif :</a:t>
            </a:r>
            <a:endParaRPr lang="en-US" dirty="0"/>
          </a:p>
        </p:txBody>
      </p:sp>
      <p:sp>
        <p:nvSpPr>
          <p:cNvPr id="3" name="Content Placeholder 2">
            <a:extLst>
              <a:ext uri="{FF2B5EF4-FFF2-40B4-BE49-F238E27FC236}">
                <a16:creationId xmlns:a16="http://schemas.microsoft.com/office/drawing/2014/main" id="{033DE084-C420-07D0-5D04-0DA6BC44C5B9}"/>
              </a:ext>
            </a:extLst>
          </p:cNvPr>
          <p:cNvSpPr>
            <a:spLocks noGrp="1"/>
          </p:cNvSpPr>
          <p:nvPr>
            <p:ph idx="1"/>
          </p:nvPr>
        </p:nvSpPr>
        <p:spPr/>
        <p:txBody>
          <a:bodyPr/>
          <a:lstStyle/>
          <a:p>
            <a:r>
              <a:rPr lang="fr-FR" dirty="0"/>
              <a:t>Ce projet vise à développer un modèle d'apprentissage profond permettant de prédire le mot suivant dans une séquence donnée. Ce modèle repose sur des réseaux de mémoire à long terme (LSTM), particulièrement adaptés aux tâches de prédiction de séquences.</a:t>
            </a:r>
          </a:p>
          <a:p>
            <a:endParaRPr lang="fr-FR" dirty="0"/>
          </a:p>
          <a:p>
            <a:r>
              <a:rPr lang="fr-FR" dirty="0"/>
              <a:t>Pour saisir l'utilité des réseaux de mémoire à long terme (LSTM), il est essentiel de comprendre d'abord ce que sont les réseaux neuronaux récurrents (RNN), en quoi consiste le problème du vanishing/exploding gradient, et enfin comment les LSTM parviennent à atténuer ce problème.</a:t>
            </a:r>
            <a:endParaRPr lang="en-US" dirty="0"/>
          </a:p>
        </p:txBody>
      </p:sp>
    </p:spTree>
    <p:extLst>
      <p:ext uri="{BB962C8B-B14F-4D97-AF65-F5344CB8AC3E}">
        <p14:creationId xmlns:p14="http://schemas.microsoft.com/office/powerpoint/2010/main" val="2004413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AB162-85BB-1238-37DC-7DA89A3EA819}"/>
              </a:ext>
            </a:extLst>
          </p:cNvPr>
          <p:cNvSpPr>
            <a:spLocks noGrp="1"/>
          </p:cNvSpPr>
          <p:nvPr>
            <p:ph type="title"/>
          </p:nvPr>
        </p:nvSpPr>
        <p:spPr/>
        <p:txBody>
          <a:bodyPr>
            <a:normAutofit/>
          </a:bodyPr>
          <a:lstStyle/>
          <a:p>
            <a:pPr algn="ctr"/>
            <a:r>
              <a:rPr lang="en-US" sz="4000" dirty="0">
                <a:solidFill>
                  <a:srgbClr val="7030A0"/>
                </a:solidFill>
              </a:rPr>
              <a:t>Réseaux Neuronaux Récurrents</a:t>
            </a:r>
          </a:p>
        </p:txBody>
      </p:sp>
      <p:pic>
        <p:nvPicPr>
          <p:cNvPr id="4" name="Content Placeholder 7">
            <a:extLst>
              <a:ext uri="{FF2B5EF4-FFF2-40B4-BE49-F238E27FC236}">
                <a16:creationId xmlns:a16="http://schemas.microsoft.com/office/drawing/2014/main" id="{6129E53D-BFD3-0CAE-6901-02252B808CC7}"/>
              </a:ext>
            </a:extLst>
          </p:cNvPr>
          <p:cNvPicPr>
            <a:picLocks noGrp="1" noChangeAspect="1"/>
          </p:cNvPicPr>
          <p:nvPr>
            <p:ph idx="1"/>
          </p:nvPr>
        </p:nvPicPr>
        <p:blipFill>
          <a:blip r:embed="rId2"/>
          <a:stretch>
            <a:fillRect/>
          </a:stretch>
        </p:blipFill>
        <p:spPr>
          <a:xfrm>
            <a:off x="4695913" y="2250059"/>
            <a:ext cx="7151511" cy="4022725"/>
          </a:xfrm>
        </p:spPr>
      </p:pic>
      <p:sp>
        <p:nvSpPr>
          <p:cNvPr id="6" name="TextBox 5">
            <a:extLst>
              <a:ext uri="{FF2B5EF4-FFF2-40B4-BE49-F238E27FC236}">
                <a16:creationId xmlns:a16="http://schemas.microsoft.com/office/drawing/2014/main" id="{B518DF29-7833-C65A-68E0-6F9A538134C4}"/>
              </a:ext>
            </a:extLst>
          </p:cNvPr>
          <p:cNvSpPr txBox="1"/>
          <p:nvPr/>
        </p:nvSpPr>
        <p:spPr>
          <a:xfrm>
            <a:off x="344576" y="2569866"/>
            <a:ext cx="4166464" cy="1200329"/>
          </a:xfrm>
          <a:prstGeom prst="rect">
            <a:avLst/>
          </a:prstGeom>
          <a:noFill/>
        </p:spPr>
        <p:txBody>
          <a:bodyPr wrap="square">
            <a:spAutoFit/>
          </a:bodyPr>
          <a:lstStyle/>
          <a:p>
            <a:pPr marL="0" indent="0">
              <a:buNone/>
            </a:pPr>
            <a:r>
              <a:rPr lang="fr-FR" sz="1800" dirty="0"/>
              <a:t>Les RNN sont un type de réseau de neurones conçu pour traiter les données séquentielles, comme le texte, l'audio ou les séries temporelles.</a:t>
            </a:r>
          </a:p>
        </p:txBody>
      </p:sp>
      <p:sp>
        <p:nvSpPr>
          <p:cNvPr id="8" name="TextBox 7">
            <a:extLst>
              <a:ext uri="{FF2B5EF4-FFF2-40B4-BE49-F238E27FC236}">
                <a16:creationId xmlns:a16="http://schemas.microsoft.com/office/drawing/2014/main" id="{E33A84D3-9EB0-DB23-2645-3919A1D859D4}"/>
              </a:ext>
            </a:extLst>
          </p:cNvPr>
          <p:cNvSpPr txBox="1"/>
          <p:nvPr/>
        </p:nvSpPr>
        <p:spPr>
          <a:xfrm>
            <a:off x="344576" y="4115414"/>
            <a:ext cx="4166464" cy="1477328"/>
          </a:xfrm>
          <a:prstGeom prst="rect">
            <a:avLst/>
          </a:prstGeom>
          <a:noFill/>
        </p:spPr>
        <p:txBody>
          <a:bodyPr wrap="square">
            <a:spAutoFit/>
          </a:bodyPr>
          <a:lstStyle/>
          <a:p>
            <a:pPr marL="0" indent="0">
              <a:buNone/>
            </a:pPr>
            <a:r>
              <a:rPr lang="fr-FR" sz="1800" dirty="0"/>
              <a:t> Contrairement aux réseaux de neurones classiques, les RNN possèdent des connexions récurrentes qui leur permettent de mémoriser les informations des entrées précédentes.</a:t>
            </a:r>
          </a:p>
        </p:txBody>
      </p:sp>
    </p:spTree>
    <p:extLst>
      <p:ext uri="{BB962C8B-B14F-4D97-AF65-F5344CB8AC3E}">
        <p14:creationId xmlns:p14="http://schemas.microsoft.com/office/powerpoint/2010/main" val="3628714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4BB54-54AE-28D1-9695-0714DDB7F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335FF-8983-A389-4BC1-042D3EC96A6D}"/>
              </a:ext>
            </a:extLst>
          </p:cNvPr>
          <p:cNvSpPr>
            <a:spLocks noGrp="1"/>
          </p:cNvSpPr>
          <p:nvPr>
            <p:ph type="title"/>
          </p:nvPr>
        </p:nvSpPr>
        <p:spPr/>
        <p:txBody>
          <a:bodyPr>
            <a:normAutofit/>
          </a:bodyPr>
          <a:lstStyle/>
          <a:p>
            <a:pPr algn="ctr"/>
            <a:r>
              <a:rPr lang="fr-FR" sz="4000" i="0" dirty="0">
                <a:solidFill>
                  <a:srgbClr val="7030A0"/>
                </a:solidFill>
                <a:effectLst/>
              </a:rPr>
              <a:t>Qu’est ce que le vanishing/ exploding Gradient Problem ?</a:t>
            </a:r>
            <a:endParaRPr lang="en-US" sz="4000" dirty="0">
              <a:solidFill>
                <a:srgbClr val="7030A0"/>
              </a:solidFill>
            </a:endParaRPr>
          </a:p>
        </p:txBody>
      </p:sp>
      <p:pic>
        <p:nvPicPr>
          <p:cNvPr id="7" name="Picture 6">
            <a:extLst>
              <a:ext uri="{FF2B5EF4-FFF2-40B4-BE49-F238E27FC236}">
                <a16:creationId xmlns:a16="http://schemas.microsoft.com/office/drawing/2014/main" id="{72876ECE-B587-85DD-3E29-056C5683A678}"/>
              </a:ext>
            </a:extLst>
          </p:cNvPr>
          <p:cNvPicPr>
            <a:picLocks noChangeAspect="1"/>
          </p:cNvPicPr>
          <p:nvPr/>
        </p:nvPicPr>
        <p:blipFill>
          <a:blip r:embed="rId2"/>
          <a:stretch>
            <a:fillRect/>
          </a:stretch>
        </p:blipFill>
        <p:spPr>
          <a:xfrm>
            <a:off x="7376160" y="1371601"/>
            <a:ext cx="4815840" cy="5486400"/>
          </a:xfrm>
          <a:prstGeom prst="rect">
            <a:avLst/>
          </a:prstGeom>
        </p:spPr>
      </p:pic>
      <p:pic>
        <p:nvPicPr>
          <p:cNvPr id="9" name="Content Placeholder 9">
            <a:extLst>
              <a:ext uri="{FF2B5EF4-FFF2-40B4-BE49-F238E27FC236}">
                <a16:creationId xmlns:a16="http://schemas.microsoft.com/office/drawing/2014/main" id="{E68AE595-6385-FE3D-41E6-2298AB99A6E3}"/>
              </a:ext>
            </a:extLst>
          </p:cNvPr>
          <p:cNvPicPr>
            <a:picLocks noChangeAspect="1"/>
          </p:cNvPicPr>
          <p:nvPr/>
        </p:nvPicPr>
        <p:blipFill>
          <a:blip r:embed="rId3"/>
          <a:stretch>
            <a:fillRect/>
          </a:stretch>
        </p:blipFill>
        <p:spPr>
          <a:xfrm>
            <a:off x="1131239" y="4587958"/>
            <a:ext cx="4253561" cy="2167892"/>
          </a:xfrm>
          <a:prstGeom prst="rect">
            <a:avLst/>
          </a:prstGeom>
        </p:spPr>
      </p:pic>
      <p:sp>
        <p:nvSpPr>
          <p:cNvPr id="11" name="TextBox 10">
            <a:extLst>
              <a:ext uri="{FF2B5EF4-FFF2-40B4-BE49-F238E27FC236}">
                <a16:creationId xmlns:a16="http://schemas.microsoft.com/office/drawing/2014/main" id="{00D9BE1D-2AC2-FC1B-C60E-A53A22628007}"/>
              </a:ext>
            </a:extLst>
          </p:cNvPr>
          <p:cNvSpPr txBox="1"/>
          <p:nvPr/>
        </p:nvSpPr>
        <p:spPr>
          <a:xfrm>
            <a:off x="738925" y="1974398"/>
            <a:ext cx="6096000" cy="2585323"/>
          </a:xfrm>
          <a:prstGeom prst="rect">
            <a:avLst/>
          </a:prstGeom>
          <a:noFill/>
        </p:spPr>
        <p:txBody>
          <a:bodyPr wrap="square">
            <a:spAutoFit/>
          </a:bodyPr>
          <a:lstStyle/>
          <a:p>
            <a:pPr marL="0" indent="0">
              <a:buNone/>
            </a:pPr>
            <a:r>
              <a:rPr lang="fr-FR" b="0" i="0" dirty="0">
                <a:solidFill>
                  <a:srgbClr val="45464B"/>
                </a:solidFill>
                <a:effectLst/>
              </a:rPr>
              <a:t>En utilisant la rétropropagation, un réseau récurrent peut retracer les dépendances arbitraires qu’il trouve dans les données d’entrée.</a:t>
            </a:r>
          </a:p>
          <a:p>
            <a:pPr marL="0" indent="0">
              <a:buNone/>
            </a:pPr>
            <a:endParaRPr lang="fr-FR" b="0" i="0" dirty="0">
              <a:solidFill>
                <a:srgbClr val="45464B"/>
              </a:solidFill>
              <a:effectLst/>
            </a:endParaRPr>
          </a:p>
          <a:p>
            <a:pPr marL="0" indent="0">
              <a:buNone/>
            </a:pPr>
            <a:r>
              <a:rPr lang="fr-FR" b="0" i="0" dirty="0">
                <a:solidFill>
                  <a:srgbClr val="45464B"/>
                </a:solidFill>
                <a:effectLst/>
              </a:rPr>
              <a:t> Cependant les </a:t>
            </a:r>
            <a:r>
              <a:rPr lang="fr-FR" b="1" i="0" dirty="0">
                <a:solidFill>
                  <a:srgbClr val="45464B"/>
                </a:solidFill>
                <a:effectLst/>
              </a:rPr>
              <a:t>gradients à long terme</a:t>
            </a:r>
            <a:r>
              <a:rPr lang="fr-FR" b="0" i="0" dirty="0">
                <a:solidFill>
                  <a:srgbClr val="45464B"/>
                </a:solidFill>
                <a:effectLst/>
              </a:rPr>
              <a:t> qui sont </a:t>
            </a:r>
            <a:r>
              <a:rPr lang="fr-FR" b="1" i="0" dirty="0">
                <a:solidFill>
                  <a:srgbClr val="45464B"/>
                </a:solidFill>
                <a:effectLst/>
              </a:rPr>
              <a:t>rétropropagés </a:t>
            </a:r>
            <a:r>
              <a:rPr lang="fr-FR" b="0" i="0" dirty="0">
                <a:solidFill>
                  <a:srgbClr val="45464B"/>
                </a:solidFill>
                <a:effectLst/>
              </a:rPr>
              <a:t>peuvent tendre vers </a:t>
            </a:r>
            <a:r>
              <a:rPr lang="fr-FR" b="1" i="1" dirty="0">
                <a:solidFill>
                  <a:srgbClr val="45464B"/>
                </a:solidFill>
                <a:effectLst/>
              </a:rPr>
              <a:t>zéro </a:t>
            </a:r>
            <a:r>
              <a:rPr lang="fr-FR" b="0" i="0" dirty="0">
                <a:solidFill>
                  <a:srgbClr val="45464B"/>
                </a:solidFill>
                <a:effectLst/>
              </a:rPr>
              <a:t>(</a:t>
            </a:r>
            <a:r>
              <a:rPr lang="fr-FR" b="0" i="1" dirty="0">
                <a:solidFill>
                  <a:srgbClr val="45464B"/>
                </a:solidFill>
                <a:effectLst/>
              </a:rPr>
              <a:t>on dit qu’ils disparaissent</a:t>
            </a:r>
            <a:r>
              <a:rPr lang="fr-FR" b="0" i="0" dirty="0">
                <a:solidFill>
                  <a:srgbClr val="45464B"/>
                </a:solidFill>
                <a:effectLst/>
              </a:rPr>
              <a:t>) ou peuvent tendre vers l’</a:t>
            </a:r>
            <a:r>
              <a:rPr lang="fr-FR" b="1" i="1" dirty="0">
                <a:solidFill>
                  <a:srgbClr val="45464B"/>
                </a:solidFill>
                <a:effectLst/>
              </a:rPr>
              <a:t>infini</a:t>
            </a:r>
            <a:r>
              <a:rPr lang="fr-FR" b="0" i="0" dirty="0">
                <a:solidFill>
                  <a:srgbClr val="45464B"/>
                </a:solidFill>
                <a:effectLst/>
              </a:rPr>
              <a:t> (</a:t>
            </a:r>
            <a:r>
              <a:rPr lang="fr-FR" b="0" i="1" dirty="0">
                <a:solidFill>
                  <a:srgbClr val="45464B"/>
                </a:solidFill>
                <a:effectLst/>
              </a:rPr>
              <a:t>on dit qu’ils explosent</a:t>
            </a:r>
            <a:r>
              <a:rPr lang="fr-FR" b="0" i="0" dirty="0">
                <a:solidFill>
                  <a:srgbClr val="45464B"/>
                </a:solidFill>
                <a:effectLst/>
              </a:rPr>
              <a:t>). Dans les deux cas on perd l’information qu’on voulait garder </a:t>
            </a:r>
            <a:r>
              <a:rPr lang="fr-FR" b="0" i="1" dirty="0">
                <a:solidFill>
                  <a:srgbClr val="45464B"/>
                </a:solidFill>
                <a:effectLst/>
              </a:rPr>
              <a:t>en mémoire</a:t>
            </a:r>
            <a:r>
              <a:rPr lang="fr-FR" b="0" i="0" dirty="0">
                <a:solidFill>
                  <a:srgbClr val="45464B"/>
                </a:solidFill>
                <a:effectLst/>
                <a:latin typeface="+mj-lt"/>
              </a:rPr>
              <a:t>.</a:t>
            </a:r>
            <a:endParaRPr lang="en-US" dirty="0">
              <a:latin typeface="+mj-lt"/>
            </a:endParaRPr>
          </a:p>
        </p:txBody>
      </p:sp>
    </p:spTree>
    <p:extLst>
      <p:ext uri="{BB962C8B-B14F-4D97-AF65-F5344CB8AC3E}">
        <p14:creationId xmlns:p14="http://schemas.microsoft.com/office/powerpoint/2010/main" val="4275420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3259D-75E3-835A-C179-8CECE8FF0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6264F-790E-0210-7E80-DB04FAF74823}"/>
              </a:ext>
            </a:extLst>
          </p:cNvPr>
          <p:cNvSpPr>
            <a:spLocks noGrp="1"/>
          </p:cNvSpPr>
          <p:nvPr>
            <p:ph type="title"/>
          </p:nvPr>
        </p:nvSpPr>
        <p:spPr/>
        <p:txBody>
          <a:bodyPr>
            <a:normAutofit/>
          </a:bodyPr>
          <a:lstStyle/>
          <a:p>
            <a:pPr algn="ctr"/>
            <a:r>
              <a:rPr lang="fr-FR" sz="4000" i="0" dirty="0">
                <a:solidFill>
                  <a:srgbClr val="7030A0"/>
                </a:solidFill>
                <a:effectLst/>
              </a:rPr>
              <a:t>Qu’est ce que le vanishing/ exploding Gradient Problem ?</a:t>
            </a:r>
            <a:endParaRPr lang="en-US" sz="4000" dirty="0">
              <a:solidFill>
                <a:srgbClr val="7030A0"/>
              </a:solidFill>
            </a:endParaRPr>
          </a:p>
        </p:txBody>
      </p:sp>
      <p:sp>
        <p:nvSpPr>
          <p:cNvPr id="4" name="TextBox 3">
            <a:extLst>
              <a:ext uri="{FF2B5EF4-FFF2-40B4-BE49-F238E27FC236}">
                <a16:creationId xmlns:a16="http://schemas.microsoft.com/office/drawing/2014/main" id="{17BAF542-C6DB-E70E-CB63-A94513280701}"/>
              </a:ext>
            </a:extLst>
          </p:cNvPr>
          <p:cNvSpPr txBox="1"/>
          <p:nvPr/>
        </p:nvSpPr>
        <p:spPr>
          <a:xfrm>
            <a:off x="1024128" y="2587955"/>
            <a:ext cx="10832592" cy="2185214"/>
          </a:xfrm>
          <a:prstGeom prst="rect">
            <a:avLst/>
          </a:prstGeom>
          <a:noFill/>
        </p:spPr>
        <p:txBody>
          <a:bodyPr wrap="square">
            <a:spAutoFit/>
          </a:bodyPr>
          <a:lstStyle/>
          <a:p>
            <a:r>
              <a:rPr lang="fr-FR" sz="2400" b="1" u="sng" dirty="0">
                <a:solidFill>
                  <a:schemeClr val="accent6">
                    <a:lumMod val="50000"/>
                  </a:schemeClr>
                </a:solidFill>
              </a:rPr>
              <a:t>Exemple</a:t>
            </a:r>
            <a:r>
              <a:rPr lang="fr-FR" sz="2800" u="sng" dirty="0">
                <a:solidFill>
                  <a:schemeClr val="accent6">
                    <a:lumMod val="50000"/>
                  </a:schemeClr>
                </a:solidFill>
              </a:rPr>
              <a:t> :</a:t>
            </a:r>
          </a:p>
          <a:p>
            <a:endParaRPr lang="fr-FR" dirty="0"/>
          </a:p>
          <a:p>
            <a:endParaRPr lang="fr-FR" dirty="0"/>
          </a:p>
          <a:p>
            <a:pPr>
              <a:buFont typeface="Arial" panose="020B0604020202020204" pitchFamily="34" charset="0"/>
              <a:buChar char="•"/>
            </a:pPr>
            <a:r>
              <a:rPr lang="fr-FR" sz="1800" dirty="0"/>
              <a:t>Imaginez que vous devez mémoriser un texte long, mais que votre mémoire diminue progressivement au fil du temps. Cela représente la disparition du gradient.</a:t>
            </a:r>
          </a:p>
          <a:p>
            <a:endParaRPr lang="fr-FR" dirty="0"/>
          </a:p>
          <a:p>
            <a:pPr>
              <a:buFont typeface="Arial" panose="020B0604020202020204" pitchFamily="34" charset="0"/>
              <a:buChar char="•"/>
            </a:pPr>
            <a:r>
              <a:rPr lang="fr-FR" sz="1800" dirty="0"/>
              <a:t>Si au contraire, chaque nouveau mot ajouté amplifie à l'excès votre mémoire, cela correspond au gradient explosif.</a:t>
            </a:r>
          </a:p>
        </p:txBody>
      </p:sp>
    </p:spTree>
    <p:extLst>
      <p:ext uri="{BB962C8B-B14F-4D97-AF65-F5344CB8AC3E}">
        <p14:creationId xmlns:p14="http://schemas.microsoft.com/office/powerpoint/2010/main" val="2007946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2A1CF-53ED-8F21-D0F9-11E97F539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D3CFC-D708-60AB-6484-8B4DF438FF83}"/>
              </a:ext>
            </a:extLst>
          </p:cNvPr>
          <p:cNvSpPr>
            <a:spLocks noGrp="1"/>
          </p:cNvSpPr>
          <p:nvPr>
            <p:ph type="title"/>
          </p:nvPr>
        </p:nvSpPr>
        <p:spPr/>
        <p:txBody>
          <a:bodyPr>
            <a:normAutofit/>
          </a:bodyPr>
          <a:lstStyle/>
          <a:p>
            <a:pPr algn="ctr"/>
            <a:r>
              <a:rPr lang="fr-FR" sz="4000" i="0" dirty="0">
                <a:solidFill>
                  <a:srgbClr val="7030A0"/>
                </a:solidFill>
                <a:effectLst/>
              </a:rPr>
              <a:t>Comment les LSTM permettent d’éviter le vanishing gradient ?</a:t>
            </a:r>
            <a:endParaRPr lang="en-US" sz="4000" dirty="0">
              <a:solidFill>
                <a:srgbClr val="7030A0"/>
              </a:solidFill>
            </a:endParaRPr>
          </a:p>
        </p:txBody>
      </p:sp>
      <p:pic>
        <p:nvPicPr>
          <p:cNvPr id="3" name="Content Placeholder 11">
            <a:extLst>
              <a:ext uri="{FF2B5EF4-FFF2-40B4-BE49-F238E27FC236}">
                <a16:creationId xmlns:a16="http://schemas.microsoft.com/office/drawing/2014/main" id="{26E8F2DD-2A19-F05A-268A-0B43C19AC93F}"/>
              </a:ext>
            </a:extLst>
          </p:cNvPr>
          <p:cNvPicPr>
            <a:picLocks noChangeAspect="1"/>
          </p:cNvPicPr>
          <p:nvPr/>
        </p:nvPicPr>
        <p:blipFill>
          <a:blip r:embed="rId2"/>
          <a:stretch>
            <a:fillRect/>
          </a:stretch>
        </p:blipFill>
        <p:spPr>
          <a:xfrm>
            <a:off x="3391909" y="3996075"/>
            <a:ext cx="5264411" cy="2861925"/>
          </a:xfrm>
          <a:prstGeom prst="rect">
            <a:avLst/>
          </a:prstGeom>
        </p:spPr>
      </p:pic>
      <p:sp>
        <p:nvSpPr>
          <p:cNvPr id="6" name="TextBox 5">
            <a:extLst>
              <a:ext uri="{FF2B5EF4-FFF2-40B4-BE49-F238E27FC236}">
                <a16:creationId xmlns:a16="http://schemas.microsoft.com/office/drawing/2014/main" id="{FD401090-E20E-5E72-B908-C13C5E8C2B67}"/>
              </a:ext>
            </a:extLst>
          </p:cNvPr>
          <p:cNvSpPr txBox="1"/>
          <p:nvPr/>
        </p:nvSpPr>
        <p:spPr>
          <a:xfrm>
            <a:off x="650240" y="2440289"/>
            <a:ext cx="11430000" cy="1200329"/>
          </a:xfrm>
          <a:prstGeom prst="rect">
            <a:avLst/>
          </a:prstGeom>
          <a:noFill/>
        </p:spPr>
        <p:txBody>
          <a:bodyPr wrap="square">
            <a:spAutoFit/>
          </a:bodyPr>
          <a:lstStyle/>
          <a:p>
            <a:pPr marL="0" indent="0">
              <a:buNone/>
            </a:pPr>
            <a:r>
              <a:rPr lang="fr-FR" b="0" i="0" dirty="0">
                <a:solidFill>
                  <a:srgbClr val="45464B"/>
                </a:solidFill>
                <a:effectLst/>
                <a:latin typeface="Mulish"/>
              </a:rPr>
              <a:t>Un nouveau sous-type de réseau est donc apparu pour essayer de contourner cette problématique : ce sont les réseaux </a:t>
            </a:r>
            <a:r>
              <a:rPr lang="fr-FR" b="1" i="1" dirty="0">
                <a:solidFill>
                  <a:srgbClr val="45464B"/>
                </a:solidFill>
                <a:effectLst/>
                <a:latin typeface="Mulish"/>
              </a:rPr>
              <a:t>LSTM</a:t>
            </a:r>
            <a:r>
              <a:rPr lang="fr-FR" b="0" i="1" dirty="0">
                <a:solidFill>
                  <a:srgbClr val="45464B"/>
                </a:solidFill>
                <a:effectLst/>
                <a:latin typeface="Mulish"/>
              </a:rPr>
              <a:t> </a:t>
            </a:r>
            <a:r>
              <a:rPr lang="fr-FR" b="0" i="0" dirty="0">
                <a:solidFill>
                  <a:srgbClr val="45464B"/>
                </a:solidFill>
                <a:effectLst/>
                <a:latin typeface="Mulish"/>
              </a:rPr>
              <a:t>qui contiennent une mémoire à court terme capable de durer assez longtemps pour qu’on la qualifie de </a:t>
            </a:r>
            <a:r>
              <a:rPr lang="fr-FR" b="1" i="0" dirty="0">
                <a:solidFill>
                  <a:srgbClr val="45464B"/>
                </a:solidFill>
                <a:effectLst/>
                <a:latin typeface="Mulish"/>
              </a:rPr>
              <a:t>mémoire longue à court terme</a:t>
            </a:r>
            <a:r>
              <a:rPr lang="fr-FR" b="0" i="0" dirty="0">
                <a:solidFill>
                  <a:srgbClr val="45464B"/>
                </a:solidFill>
                <a:effectLst/>
                <a:latin typeface="Mulish"/>
              </a:rPr>
              <a:t>.</a:t>
            </a:r>
          </a:p>
          <a:p>
            <a:pPr marL="0" indent="0">
              <a:buNone/>
            </a:pPr>
            <a:r>
              <a:rPr lang="fr-FR" b="0" i="0" dirty="0">
                <a:solidFill>
                  <a:srgbClr val="45464B"/>
                </a:solidFill>
                <a:effectLst/>
                <a:latin typeface="Mulish"/>
              </a:rPr>
              <a:t>De ce fait, on évite le problème de fuite du gradient même s’il peut arriver encore que notre gradient explose.</a:t>
            </a:r>
            <a:endParaRPr lang="en-US" dirty="0"/>
          </a:p>
        </p:txBody>
      </p:sp>
    </p:spTree>
    <p:extLst>
      <p:ext uri="{BB962C8B-B14F-4D97-AF65-F5344CB8AC3E}">
        <p14:creationId xmlns:p14="http://schemas.microsoft.com/office/powerpoint/2010/main" val="1060076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0A251-EAD4-30CD-E961-930B2A8A2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E85E5-C8DD-AF32-2132-0AD7AF2B851E}"/>
              </a:ext>
            </a:extLst>
          </p:cNvPr>
          <p:cNvSpPr>
            <a:spLocks noGrp="1"/>
          </p:cNvSpPr>
          <p:nvPr>
            <p:ph type="title"/>
          </p:nvPr>
        </p:nvSpPr>
        <p:spPr/>
        <p:txBody>
          <a:bodyPr>
            <a:normAutofit/>
          </a:bodyPr>
          <a:lstStyle/>
          <a:p>
            <a:pPr algn="ctr"/>
            <a:r>
              <a:rPr lang="fr-FR" sz="4000" i="0" dirty="0">
                <a:solidFill>
                  <a:srgbClr val="7030A0"/>
                </a:solidFill>
                <a:effectLst/>
              </a:rPr>
              <a:t>Comment les LSTM permettent d’éviter le vanishing gradient ?</a:t>
            </a:r>
            <a:endParaRPr lang="en-US" sz="4000" dirty="0">
              <a:solidFill>
                <a:srgbClr val="7030A0"/>
              </a:solidFill>
            </a:endParaRPr>
          </a:p>
        </p:txBody>
      </p:sp>
      <p:pic>
        <p:nvPicPr>
          <p:cNvPr id="7" name="Content Placeholder 11">
            <a:extLst>
              <a:ext uri="{FF2B5EF4-FFF2-40B4-BE49-F238E27FC236}">
                <a16:creationId xmlns:a16="http://schemas.microsoft.com/office/drawing/2014/main" id="{5934E7E6-A1E3-ED78-05B3-2FCE5DE40ED9}"/>
              </a:ext>
            </a:extLst>
          </p:cNvPr>
          <p:cNvPicPr>
            <a:picLocks noChangeAspect="1"/>
          </p:cNvPicPr>
          <p:nvPr/>
        </p:nvPicPr>
        <p:blipFill>
          <a:blip r:embed="rId2"/>
          <a:stretch>
            <a:fillRect/>
          </a:stretch>
        </p:blipFill>
        <p:spPr>
          <a:xfrm>
            <a:off x="6627621" y="2389632"/>
            <a:ext cx="5279899" cy="4000863"/>
          </a:xfrm>
          <a:prstGeom prst="rect">
            <a:avLst/>
          </a:prstGeom>
        </p:spPr>
      </p:pic>
      <p:sp>
        <p:nvSpPr>
          <p:cNvPr id="9" name="TextBox 8">
            <a:extLst>
              <a:ext uri="{FF2B5EF4-FFF2-40B4-BE49-F238E27FC236}">
                <a16:creationId xmlns:a16="http://schemas.microsoft.com/office/drawing/2014/main" id="{D19413BC-EF85-B3A8-CD91-E404821DD848}"/>
              </a:ext>
            </a:extLst>
          </p:cNvPr>
          <p:cNvSpPr txBox="1"/>
          <p:nvPr/>
        </p:nvSpPr>
        <p:spPr>
          <a:xfrm>
            <a:off x="284480" y="2604759"/>
            <a:ext cx="6096000" cy="3416320"/>
          </a:xfrm>
          <a:prstGeom prst="rect">
            <a:avLst/>
          </a:prstGeom>
          <a:noFill/>
        </p:spPr>
        <p:txBody>
          <a:bodyPr wrap="square">
            <a:spAutoFit/>
          </a:bodyPr>
          <a:lstStyle/>
          <a:p>
            <a:r>
              <a:rPr lang="fr-FR" dirty="0"/>
              <a:t>Chaque unité LSTM contient :</a:t>
            </a:r>
          </a:p>
          <a:p>
            <a:endParaRPr lang="fr-FR" dirty="0"/>
          </a:p>
          <a:p>
            <a:pPr>
              <a:buFont typeface="Arial" panose="020B0604020202020204" pitchFamily="34" charset="0"/>
              <a:buChar char="•"/>
            </a:pPr>
            <a:r>
              <a:rPr lang="fr-FR" b="1" dirty="0"/>
              <a:t>Une cellule de mémoire</a:t>
            </a:r>
            <a:r>
              <a:rPr lang="fr-FR" dirty="0"/>
              <a:t> qui stocke les informations importantes sur de longues périodes.</a:t>
            </a:r>
          </a:p>
          <a:p>
            <a:endParaRPr lang="fr-FR" dirty="0"/>
          </a:p>
          <a:p>
            <a:pPr>
              <a:buFont typeface="Arial" panose="020B0604020202020204" pitchFamily="34" charset="0"/>
              <a:buChar char="•"/>
            </a:pPr>
            <a:r>
              <a:rPr lang="fr-FR" b="1" dirty="0"/>
              <a:t>Trois portes principales</a:t>
            </a:r>
            <a:r>
              <a:rPr lang="fr-FR" dirty="0"/>
              <a:t> qui contrôlent le flux d'information :</a:t>
            </a:r>
          </a:p>
          <a:p>
            <a:pPr marL="742950" lvl="1" indent="-285750">
              <a:buFont typeface="Arial" panose="020B0604020202020204" pitchFamily="34" charset="0"/>
              <a:buChar char="•"/>
            </a:pPr>
            <a:r>
              <a:rPr lang="fr-FR" b="1" dirty="0"/>
              <a:t>Porte d'entrée</a:t>
            </a:r>
            <a:r>
              <a:rPr lang="fr-FR" dirty="0"/>
              <a:t> : Décide quelles nouvelles informations doivent être ajoutées.</a:t>
            </a:r>
          </a:p>
          <a:p>
            <a:pPr marL="742950" lvl="1" indent="-285750">
              <a:buFont typeface="Arial" panose="020B0604020202020204" pitchFamily="34" charset="0"/>
              <a:buChar char="•"/>
            </a:pPr>
            <a:r>
              <a:rPr lang="fr-FR" b="1" dirty="0"/>
              <a:t>Porte d'oubli</a:t>
            </a:r>
            <a:r>
              <a:rPr lang="fr-FR" dirty="0"/>
              <a:t> : Détermine quelles informations anciennes doivent être supprimées.</a:t>
            </a:r>
          </a:p>
          <a:p>
            <a:pPr marL="742950" lvl="1" indent="-285750">
              <a:buFont typeface="Arial" panose="020B0604020202020204" pitchFamily="34" charset="0"/>
              <a:buChar char="•"/>
            </a:pPr>
            <a:r>
              <a:rPr lang="fr-FR" b="1" dirty="0"/>
              <a:t>Porte de sortie</a:t>
            </a:r>
            <a:r>
              <a:rPr lang="fr-FR" dirty="0"/>
              <a:t> : Gère la sortie de l'information à l'étape actuelle</a:t>
            </a:r>
          </a:p>
        </p:txBody>
      </p:sp>
    </p:spTree>
    <p:extLst>
      <p:ext uri="{BB962C8B-B14F-4D97-AF65-F5344CB8AC3E}">
        <p14:creationId xmlns:p14="http://schemas.microsoft.com/office/powerpoint/2010/main" val="48094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EE7D-FA04-A986-94DE-4FE5D4D8D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E8AFB-7D01-5C95-818B-EC67DE2BB250}"/>
              </a:ext>
            </a:extLst>
          </p:cNvPr>
          <p:cNvSpPr>
            <a:spLocks noGrp="1"/>
          </p:cNvSpPr>
          <p:nvPr>
            <p:ph type="title"/>
          </p:nvPr>
        </p:nvSpPr>
        <p:spPr/>
        <p:txBody>
          <a:bodyPr>
            <a:normAutofit/>
          </a:bodyPr>
          <a:lstStyle/>
          <a:p>
            <a:pPr algn="ctr"/>
            <a:r>
              <a:rPr lang="fr-FR" sz="4000" i="0" dirty="0">
                <a:solidFill>
                  <a:srgbClr val="7030A0"/>
                </a:solidFill>
                <a:effectLst/>
              </a:rPr>
              <a:t>Comment les LSTM permettent d’éviter le vanishing gradient ?</a:t>
            </a:r>
            <a:endParaRPr lang="en-US" sz="4000" dirty="0">
              <a:solidFill>
                <a:srgbClr val="7030A0"/>
              </a:solidFill>
            </a:endParaRPr>
          </a:p>
        </p:txBody>
      </p:sp>
      <p:sp>
        <p:nvSpPr>
          <p:cNvPr id="9" name="TextBox 8">
            <a:extLst>
              <a:ext uri="{FF2B5EF4-FFF2-40B4-BE49-F238E27FC236}">
                <a16:creationId xmlns:a16="http://schemas.microsoft.com/office/drawing/2014/main" id="{C78D0F23-2BFD-21F3-3086-32F1907378D8}"/>
              </a:ext>
            </a:extLst>
          </p:cNvPr>
          <p:cNvSpPr txBox="1"/>
          <p:nvPr/>
        </p:nvSpPr>
        <p:spPr>
          <a:xfrm>
            <a:off x="1024128" y="2950199"/>
            <a:ext cx="10771632" cy="1569660"/>
          </a:xfrm>
          <a:prstGeom prst="rect">
            <a:avLst/>
          </a:prstGeom>
          <a:noFill/>
        </p:spPr>
        <p:txBody>
          <a:bodyPr wrap="square">
            <a:spAutoFit/>
          </a:bodyPr>
          <a:lstStyle/>
          <a:p>
            <a:r>
              <a:rPr lang="fr-FR" sz="2400" b="1" u="sng" dirty="0">
                <a:solidFill>
                  <a:schemeClr val="accent6">
                    <a:lumMod val="50000"/>
                  </a:schemeClr>
                </a:solidFill>
              </a:rPr>
              <a:t>Exemple :</a:t>
            </a:r>
          </a:p>
          <a:p>
            <a:endParaRPr lang="fr-FR" dirty="0"/>
          </a:p>
          <a:p>
            <a:r>
              <a:rPr lang="fr-FR" dirty="0"/>
              <a:t>Imaginez une liste de courses. Vous notez les éléments (ajout d'information), supprimez ceux déjà achetés (oubli), et consultez la liste pour voir ce qu'il reste (sortie).</a:t>
            </a:r>
          </a:p>
          <a:p>
            <a:endParaRPr lang="fr-FR" dirty="0"/>
          </a:p>
        </p:txBody>
      </p:sp>
    </p:spTree>
    <p:extLst>
      <p:ext uri="{BB962C8B-B14F-4D97-AF65-F5344CB8AC3E}">
        <p14:creationId xmlns:p14="http://schemas.microsoft.com/office/powerpoint/2010/main" val="2962558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CABCF-0076-F20E-F73C-EC52A25BD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2F12A-9972-56A8-241A-2C0565209999}"/>
              </a:ext>
            </a:extLst>
          </p:cNvPr>
          <p:cNvSpPr>
            <a:spLocks noGrp="1"/>
          </p:cNvSpPr>
          <p:nvPr>
            <p:ph type="title"/>
          </p:nvPr>
        </p:nvSpPr>
        <p:spPr>
          <a:xfrm>
            <a:off x="881888" y="666496"/>
            <a:ext cx="9720072" cy="1499616"/>
          </a:xfrm>
        </p:spPr>
        <p:txBody>
          <a:bodyPr>
            <a:normAutofit/>
          </a:bodyPr>
          <a:lstStyle/>
          <a:p>
            <a:r>
              <a:rPr lang="en-US" b="1" dirty="0">
                <a:solidFill>
                  <a:srgbClr val="569CD6"/>
                </a:solidFill>
                <a:effectLst/>
                <a:latin typeface="Consolas" panose="020B0609020204030204" pitchFamily="49" charset="0"/>
              </a:rPr>
              <a:t>Demonstration</a:t>
            </a:r>
            <a:endParaRPr lang="en-US" sz="2700" dirty="0"/>
          </a:p>
        </p:txBody>
      </p:sp>
      <p:sp>
        <p:nvSpPr>
          <p:cNvPr id="3" name="Content Placeholder 2">
            <a:extLst>
              <a:ext uri="{FF2B5EF4-FFF2-40B4-BE49-F238E27FC236}">
                <a16:creationId xmlns:a16="http://schemas.microsoft.com/office/drawing/2014/main" id="{E0FEDB1C-7656-DFF9-597C-1489D9C9E82D}"/>
              </a:ext>
            </a:extLst>
          </p:cNvPr>
          <p:cNvSpPr>
            <a:spLocks noGrp="1"/>
          </p:cNvSpPr>
          <p:nvPr>
            <p:ph idx="1"/>
          </p:nvPr>
        </p:nvSpPr>
        <p:spPr>
          <a:xfrm>
            <a:off x="983488" y="3291840"/>
            <a:ext cx="9720073" cy="4023360"/>
          </a:xfrm>
        </p:spPr>
        <p:txBody>
          <a:bodyPr/>
          <a:lstStyle/>
          <a:p>
            <a:r>
              <a:rPr lang="en-US" b="0" dirty="0">
                <a:solidFill>
                  <a:schemeClr val="tx2">
                    <a:lumMod val="50000"/>
                  </a:schemeClr>
                </a:solidFill>
                <a:effectLst/>
                <a:latin typeface="Consolas" panose="020B0609020204030204" pitchFamily="49" charset="0"/>
              </a:rPr>
              <a:t>1- Data Collection</a:t>
            </a:r>
          </a:p>
          <a:p>
            <a:r>
              <a:rPr lang="en-US" b="0" dirty="0">
                <a:solidFill>
                  <a:schemeClr val="tx2">
                    <a:lumMod val="50000"/>
                  </a:schemeClr>
                </a:solidFill>
                <a:effectLst/>
                <a:latin typeface="Consolas" panose="020B0609020204030204" pitchFamily="49" charset="0"/>
              </a:rPr>
              <a:t>2- Data Preprocessing</a:t>
            </a:r>
          </a:p>
          <a:p>
            <a:r>
              <a:rPr lang="en-US" b="0" dirty="0">
                <a:solidFill>
                  <a:schemeClr val="tx2">
                    <a:lumMod val="50000"/>
                  </a:schemeClr>
                </a:solidFill>
                <a:effectLst/>
                <a:latin typeface="Consolas" panose="020B0609020204030204" pitchFamily="49" charset="0"/>
              </a:rPr>
              <a:t>3- Model Building</a:t>
            </a:r>
          </a:p>
          <a:p>
            <a:r>
              <a:rPr lang="en-US" b="0" dirty="0">
                <a:solidFill>
                  <a:schemeClr val="tx2">
                    <a:lumMod val="50000"/>
                  </a:schemeClr>
                </a:solidFill>
                <a:effectLst/>
                <a:latin typeface="Consolas" panose="020B0609020204030204" pitchFamily="49" charset="0"/>
              </a:rPr>
              <a:t>4- Model Training</a:t>
            </a:r>
          </a:p>
          <a:p>
            <a:r>
              <a:rPr lang="en-US" b="0" dirty="0">
                <a:solidFill>
                  <a:schemeClr val="tx2">
                    <a:lumMod val="50000"/>
                  </a:schemeClr>
                </a:solidFill>
                <a:effectLst/>
                <a:latin typeface="Consolas" panose="020B0609020204030204" pitchFamily="49" charset="0"/>
              </a:rPr>
              <a:t>5- Model Evaluation</a:t>
            </a:r>
          </a:p>
          <a:p>
            <a:r>
              <a:rPr lang="en-US" b="0" dirty="0">
                <a:solidFill>
                  <a:schemeClr val="tx2">
                    <a:lumMod val="50000"/>
                  </a:schemeClr>
                </a:solidFill>
                <a:effectLst/>
                <a:latin typeface="Consolas" panose="020B0609020204030204" pitchFamily="49" charset="0"/>
              </a:rPr>
              <a:t>6- Deployment</a:t>
            </a:r>
          </a:p>
          <a:p>
            <a:endParaRPr lang="en-US" dirty="0"/>
          </a:p>
        </p:txBody>
      </p:sp>
      <p:sp>
        <p:nvSpPr>
          <p:cNvPr id="4" name="TextBox 3">
            <a:extLst>
              <a:ext uri="{FF2B5EF4-FFF2-40B4-BE49-F238E27FC236}">
                <a16:creationId xmlns:a16="http://schemas.microsoft.com/office/drawing/2014/main" id="{AB6B41D0-8B43-3DF6-37D7-428E949F44F0}"/>
              </a:ext>
            </a:extLst>
          </p:cNvPr>
          <p:cNvSpPr txBox="1"/>
          <p:nvPr/>
        </p:nvSpPr>
        <p:spPr>
          <a:xfrm>
            <a:off x="3029204" y="2166112"/>
            <a:ext cx="5425440" cy="523220"/>
          </a:xfrm>
          <a:prstGeom prst="rect">
            <a:avLst/>
          </a:prstGeom>
          <a:noFill/>
        </p:spPr>
        <p:txBody>
          <a:bodyPr wrap="square" rtlCol="0">
            <a:spAutoFit/>
          </a:bodyPr>
          <a:lstStyle/>
          <a:p>
            <a:r>
              <a:rPr lang="en-US" sz="2800" dirty="0">
                <a:solidFill>
                  <a:schemeClr val="accent6">
                    <a:lumMod val="50000"/>
                  </a:schemeClr>
                </a:solidFill>
              </a:rPr>
              <a:t>Next Word Prediction Using LSTM</a:t>
            </a:r>
          </a:p>
        </p:txBody>
      </p:sp>
    </p:spTree>
    <p:extLst>
      <p:ext uri="{BB962C8B-B14F-4D97-AF65-F5344CB8AC3E}">
        <p14:creationId xmlns:p14="http://schemas.microsoft.com/office/powerpoint/2010/main" val="2584583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F486F-F95C-C061-A29B-3A60CF8CE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E13E6-1A92-B42D-F8C1-EABDF902857E}"/>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1- Data Collection</a:t>
            </a:r>
          </a:p>
        </p:txBody>
      </p:sp>
      <p:sp>
        <p:nvSpPr>
          <p:cNvPr id="4" name="Rectangle 1">
            <a:extLst>
              <a:ext uri="{FF2B5EF4-FFF2-40B4-BE49-F238E27FC236}">
                <a16:creationId xmlns:a16="http://schemas.microsoft.com/office/drawing/2014/main" id="{F4B99AB4-39AF-0296-017A-67DF9BAC9DEF}"/>
              </a:ext>
            </a:extLst>
          </p:cNvPr>
          <p:cNvSpPr>
            <a:spLocks noGrp="1" noChangeArrowheads="1"/>
          </p:cNvSpPr>
          <p:nvPr>
            <p:ph idx="1"/>
          </p:nvPr>
        </p:nvSpPr>
        <p:spPr bwMode="auto">
          <a:xfrm>
            <a:off x="1024128" y="2084832"/>
            <a:ext cx="78790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Nous utilisons le texte de </a:t>
            </a:r>
            <a:r>
              <a:rPr kumimoji="0" lang="en-US" altLang="en-US" sz="1800" b="1" i="0" u="none" strike="noStrike" cap="none" normalizeH="0" baseline="0" dirty="0">
                <a:ln>
                  <a:noFill/>
                </a:ln>
                <a:solidFill>
                  <a:schemeClr val="tx1"/>
                </a:solidFill>
                <a:effectLst/>
                <a:latin typeface="Arial" panose="020B0604020202020204" pitchFamily="34" charset="0"/>
              </a:rPr>
              <a:t>"Hamlet"</a:t>
            </a:r>
            <a:r>
              <a:rPr kumimoji="0" lang="en-US" altLang="en-US" sz="1800" b="0" i="0" u="none" strike="noStrike" cap="none" normalizeH="0" baseline="0" dirty="0">
                <a:ln>
                  <a:noFill/>
                </a:ln>
                <a:solidFill>
                  <a:schemeClr val="tx1"/>
                </a:solidFill>
                <a:effectLst/>
                <a:latin typeface="Arial" panose="020B0604020202020204" pitchFamily="34" charset="0"/>
              </a:rPr>
              <a:t> de Shakespeare comme notre Dataset.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Ce texte riche et complexe constitue un bon défi pour notre modèle.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4E5A7D02-EA19-75EE-EC36-96C9A6443DFD}"/>
              </a:ext>
            </a:extLst>
          </p:cNvPr>
          <p:cNvPicPr>
            <a:picLocks noChangeAspect="1"/>
          </p:cNvPicPr>
          <p:nvPr/>
        </p:nvPicPr>
        <p:blipFill>
          <a:blip r:embed="rId2"/>
          <a:stretch>
            <a:fillRect/>
          </a:stretch>
        </p:blipFill>
        <p:spPr>
          <a:xfrm>
            <a:off x="1024128" y="3008162"/>
            <a:ext cx="9254989" cy="3402233"/>
          </a:xfrm>
          <a:prstGeom prst="rect">
            <a:avLst/>
          </a:prstGeom>
        </p:spPr>
      </p:pic>
    </p:spTree>
    <p:extLst>
      <p:ext uri="{BB962C8B-B14F-4D97-AF65-F5344CB8AC3E}">
        <p14:creationId xmlns:p14="http://schemas.microsoft.com/office/powerpoint/2010/main" val="2235522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D3843-442F-EB15-B708-065086905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73706-7C2A-2A21-FE3E-6BC172A023D8}"/>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34977E6B-5913-C7E3-199F-0C0D8FCACFE1}"/>
              </a:ext>
            </a:extLst>
          </p:cNvPr>
          <p:cNvSpPr>
            <a:spLocks noGrp="1"/>
          </p:cNvSpPr>
          <p:nvPr>
            <p:ph idx="1"/>
          </p:nvPr>
        </p:nvSpPr>
        <p:spPr>
          <a:xfrm>
            <a:off x="1024128" y="1991360"/>
            <a:ext cx="9720073" cy="4754880"/>
          </a:xfrm>
        </p:spPr>
        <p:txBody>
          <a:bodyPr/>
          <a:lstStyle/>
          <a:p>
            <a:r>
              <a:rPr lang="fr-FR" b="1" dirty="0"/>
              <a:t>- </a:t>
            </a:r>
            <a:r>
              <a:rPr lang="fr-FR" b="1" dirty="0">
                <a:solidFill>
                  <a:srgbClr val="7030A0"/>
                </a:solidFill>
              </a:rPr>
              <a:t>Chargement et prétraitement du texte</a:t>
            </a:r>
            <a:r>
              <a:rPr lang="fr-FR" dirty="0">
                <a:solidFill>
                  <a:srgbClr val="7030A0"/>
                </a:solidFill>
              </a:rPr>
              <a:t> :</a:t>
            </a:r>
          </a:p>
          <a:p>
            <a:r>
              <a:rPr lang="fr-FR" sz="2000" dirty="0"/>
              <a:t>Le texte de Hamlet est chargé et converti en minuscules.</a:t>
            </a:r>
            <a:endParaRPr lang="en-US" sz="2000" dirty="0"/>
          </a:p>
          <a:p>
            <a:r>
              <a:rPr lang="en-US" dirty="0"/>
              <a:t>               </a:t>
            </a:r>
          </a:p>
          <a:p>
            <a:endParaRPr lang="en-US" dirty="0"/>
          </a:p>
          <a:p>
            <a:endParaRPr lang="en-US"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en-US" sz="2000" dirty="0"/>
              <a:t>Texte : "I love deep learning"</a:t>
            </a:r>
          </a:p>
          <a:p>
            <a:pPr marL="0" indent="0">
              <a:buNone/>
            </a:pPr>
            <a:r>
              <a:rPr lang="en-US" sz="2000" dirty="0"/>
              <a:t>                      Après transformation en minuscules : "i love deep learning"</a:t>
            </a:r>
          </a:p>
        </p:txBody>
      </p:sp>
      <p:pic>
        <p:nvPicPr>
          <p:cNvPr id="10" name="Picture 9">
            <a:extLst>
              <a:ext uri="{FF2B5EF4-FFF2-40B4-BE49-F238E27FC236}">
                <a16:creationId xmlns:a16="http://schemas.microsoft.com/office/drawing/2014/main" id="{53812541-2077-8A4B-0E20-139C1B35E48D}"/>
              </a:ext>
            </a:extLst>
          </p:cNvPr>
          <p:cNvPicPr>
            <a:picLocks noChangeAspect="1"/>
          </p:cNvPicPr>
          <p:nvPr/>
        </p:nvPicPr>
        <p:blipFill>
          <a:blip r:embed="rId2"/>
          <a:stretch>
            <a:fillRect/>
          </a:stretch>
        </p:blipFill>
        <p:spPr>
          <a:xfrm>
            <a:off x="1024128" y="3002280"/>
            <a:ext cx="9217152" cy="2209800"/>
          </a:xfrm>
          <a:prstGeom prst="rect">
            <a:avLst/>
          </a:prstGeom>
        </p:spPr>
      </p:pic>
    </p:spTree>
    <p:extLst>
      <p:ext uri="{BB962C8B-B14F-4D97-AF65-F5344CB8AC3E}">
        <p14:creationId xmlns:p14="http://schemas.microsoft.com/office/powerpoint/2010/main" val="887388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5320D-5C3B-2F86-98A6-43B4D395F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91DB8-4D77-A3E5-D877-3DD9F9A69FD2}"/>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EA5B7F7B-222D-385F-E94E-8BA089B4576E}"/>
              </a:ext>
            </a:extLst>
          </p:cNvPr>
          <p:cNvSpPr>
            <a:spLocks noGrp="1"/>
          </p:cNvSpPr>
          <p:nvPr>
            <p:ph idx="1"/>
          </p:nvPr>
        </p:nvSpPr>
        <p:spPr>
          <a:xfrm>
            <a:off x="1024128" y="1991360"/>
            <a:ext cx="9720073" cy="4754880"/>
          </a:xfrm>
        </p:spPr>
        <p:txBody>
          <a:bodyPr/>
          <a:lstStyle/>
          <a:p>
            <a:r>
              <a:rPr lang="fr-FR" b="1" dirty="0"/>
              <a:t>- </a:t>
            </a:r>
            <a:r>
              <a:rPr lang="en-US" b="1" dirty="0">
                <a:solidFill>
                  <a:srgbClr val="7030A0"/>
                </a:solidFill>
              </a:rPr>
              <a:t>Tokenisation</a:t>
            </a:r>
            <a:r>
              <a:rPr lang="en-US" dirty="0"/>
              <a:t> </a:t>
            </a:r>
            <a:r>
              <a:rPr lang="fr-FR" dirty="0">
                <a:solidFill>
                  <a:srgbClr val="7030A0"/>
                </a:solidFill>
              </a:rPr>
              <a:t>:</a:t>
            </a:r>
          </a:p>
          <a:p>
            <a:pPr marL="0" indent="0">
              <a:buNone/>
            </a:pPr>
            <a:r>
              <a:rPr lang="fr-FR" sz="2000" dirty="0"/>
              <a:t>Le texte est tokenisé en mots, chaque mot se voit attribuer un indice unique dans le   vocabulaire.</a:t>
            </a:r>
            <a:endParaRPr lang="en-US" sz="2000" dirty="0"/>
          </a:p>
          <a:p>
            <a:pPr marL="0" indent="0">
              <a:buNone/>
            </a:pPr>
            <a:r>
              <a:rPr lang="en-US" sz="2000" dirty="0"/>
              <a:t>           </a:t>
            </a:r>
          </a:p>
          <a:p>
            <a:endParaRPr lang="en-US" dirty="0"/>
          </a:p>
          <a:p>
            <a:endParaRPr lang="en-US"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en-US" sz="2000" dirty="0"/>
              <a:t>Texte : "i love deep learning“</a:t>
            </a:r>
          </a:p>
          <a:p>
            <a:r>
              <a:rPr lang="en-US" sz="2000" dirty="0"/>
              <a:t>                     Tokenisation : {'i': 1, 'love': 2, 'deep': 3, 'learning': 4}</a:t>
            </a:r>
          </a:p>
        </p:txBody>
      </p:sp>
      <p:pic>
        <p:nvPicPr>
          <p:cNvPr id="5" name="Picture 4">
            <a:extLst>
              <a:ext uri="{FF2B5EF4-FFF2-40B4-BE49-F238E27FC236}">
                <a16:creationId xmlns:a16="http://schemas.microsoft.com/office/drawing/2014/main" id="{F2ADBB00-BA46-48B2-0F0A-6AE504D1AF7A}"/>
              </a:ext>
            </a:extLst>
          </p:cNvPr>
          <p:cNvPicPr>
            <a:picLocks noChangeAspect="1"/>
          </p:cNvPicPr>
          <p:nvPr/>
        </p:nvPicPr>
        <p:blipFill>
          <a:blip r:embed="rId2"/>
          <a:stretch>
            <a:fillRect/>
          </a:stretch>
        </p:blipFill>
        <p:spPr>
          <a:xfrm>
            <a:off x="1024128" y="3341724"/>
            <a:ext cx="9054592" cy="1719428"/>
          </a:xfrm>
          <a:prstGeom prst="rect">
            <a:avLst/>
          </a:prstGeom>
        </p:spPr>
      </p:pic>
    </p:spTree>
    <p:extLst>
      <p:ext uri="{BB962C8B-B14F-4D97-AF65-F5344CB8AC3E}">
        <p14:creationId xmlns:p14="http://schemas.microsoft.com/office/powerpoint/2010/main" val="66278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8E660-56CC-E58B-B18E-C7ADF69D1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B9548-56A3-B86B-D788-737221A5A060}"/>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ABD57938-4060-C959-FA95-02F9009DD182}"/>
              </a:ext>
            </a:extLst>
          </p:cNvPr>
          <p:cNvSpPr>
            <a:spLocks noGrp="1"/>
          </p:cNvSpPr>
          <p:nvPr>
            <p:ph idx="1"/>
          </p:nvPr>
        </p:nvSpPr>
        <p:spPr>
          <a:xfrm>
            <a:off x="1024128" y="1991360"/>
            <a:ext cx="9720073" cy="4754880"/>
          </a:xfrm>
        </p:spPr>
        <p:txBody>
          <a:bodyPr>
            <a:normAutofit lnSpcReduction="10000"/>
          </a:bodyPr>
          <a:lstStyle/>
          <a:p>
            <a:r>
              <a:rPr lang="fr-FR" b="1" dirty="0"/>
              <a:t>- </a:t>
            </a:r>
            <a:r>
              <a:rPr lang="en-US" b="1" dirty="0">
                <a:solidFill>
                  <a:srgbClr val="7030A0"/>
                </a:solidFill>
              </a:rPr>
              <a:t>Création des séquences d'entrée </a:t>
            </a:r>
            <a:r>
              <a:rPr lang="fr-FR" dirty="0">
                <a:solidFill>
                  <a:srgbClr val="7030A0"/>
                </a:solidFill>
              </a:rPr>
              <a:t>:</a:t>
            </a:r>
          </a:p>
          <a:p>
            <a:pPr marL="0" indent="0">
              <a:buNone/>
            </a:pPr>
            <a:r>
              <a:rPr lang="fr-FR" sz="2000" dirty="0"/>
              <a:t>Des séquences de mots sont créées à partir des indices des mots, chaque séquence étant utilisée pour prédire le mot suivant.</a:t>
            </a:r>
            <a:r>
              <a:rPr lang="en-US" sz="2000" dirty="0"/>
              <a:t>           </a:t>
            </a:r>
          </a:p>
          <a:p>
            <a:endParaRPr lang="en-US" dirty="0"/>
          </a:p>
          <a:p>
            <a:endParaRPr lang="en-US" dirty="0"/>
          </a:p>
          <a:p>
            <a:endParaRPr lang="en-US"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en-US" sz="2000" dirty="0"/>
              <a:t>Texte : "i love deep learning“</a:t>
            </a:r>
          </a:p>
          <a:p>
            <a:r>
              <a:rPr lang="fr-FR" sz="2000" dirty="0"/>
              <a:t>                     Séquences : [[1], [1, 2], [1, 2, 3], [1, 2, 3, 4]] </a:t>
            </a:r>
          </a:p>
          <a:p>
            <a:r>
              <a:rPr lang="fr-FR" sz="2000" dirty="0"/>
              <a:t>                     (chaque séquence représente les indices des mots)</a:t>
            </a:r>
            <a:endParaRPr lang="en-US" sz="2000" dirty="0"/>
          </a:p>
        </p:txBody>
      </p:sp>
      <p:pic>
        <p:nvPicPr>
          <p:cNvPr id="6" name="Picture 5">
            <a:extLst>
              <a:ext uri="{FF2B5EF4-FFF2-40B4-BE49-F238E27FC236}">
                <a16:creationId xmlns:a16="http://schemas.microsoft.com/office/drawing/2014/main" id="{7265191D-1477-A6FA-F121-C7F8955BC547}"/>
              </a:ext>
            </a:extLst>
          </p:cNvPr>
          <p:cNvPicPr>
            <a:picLocks noChangeAspect="1"/>
          </p:cNvPicPr>
          <p:nvPr/>
        </p:nvPicPr>
        <p:blipFill>
          <a:blip r:embed="rId2"/>
          <a:stretch>
            <a:fillRect/>
          </a:stretch>
        </p:blipFill>
        <p:spPr>
          <a:xfrm>
            <a:off x="1024128" y="3185589"/>
            <a:ext cx="8851392" cy="1813131"/>
          </a:xfrm>
          <a:prstGeom prst="rect">
            <a:avLst/>
          </a:prstGeom>
        </p:spPr>
      </p:pic>
    </p:spTree>
    <p:extLst>
      <p:ext uri="{BB962C8B-B14F-4D97-AF65-F5344CB8AC3E}">
        <p14:creationId xmlns:p14="http://schemas.microsoft.com/office/powerpoint/2010/main" val="771173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84A75-0EC6-1E2E-2229-5AC8B211C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D533A-7E35-DA2E-A6F3-9ED0A3C20BC5}"/>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F72223AA-AE56-7CDC-D8AA-DEB4C5FE7236}"/>
              </a:ext>
            </a:extLst>
          </p:cNvPr>
          <p:cNvSpPr>
            <a:spLocks noGrp="1"/>
          </p:cNvSpPr>
          <p:nvPr>
            <p:ph idx="1"/>
          </p:nvPr>
        </p:nvSpPr>
        <p:spPr>
          <a:xfrm>
            <a:off x="1024128" y="1991360"/>
            <a:ext cx="9720073" cy="4754880"/>
          </a:xfrm>
        </p:spPr>
        <p:txBody>
          <a:bodyPr/>
          <a:lstStyle/>
          <a:p>
            <a:r>
              <a:rPr lang="fr-FR" b="1" dirty="0">
                <a:solidFill>
                  <a:srgbClr val="7030A0"/>
                </a:solidFill>
              </a:rPr>
              <a:t>- </a:t>
            </a:r>
            <a:r>
              <a:rPr lang="en-US" b="1" dirty="0">
                <a:solidFill>
                  <a:srgbClr val="7030A0"/>
                </a:solidFill>
              </a:rPr>
              <a:t>Padding des séquences</a:t>
            </a:r>
            <a:r>
              <a:rPr lang="fr-FR" b="1" dirty="0">
                <a:solidFill>
                  <a:srgbClr val="7030A0"/>
                </a:solidFill>
              </a:rPr>
              <a:t>:</a:t>
            </a:r>
          </a:p>
          <a:p>
            <a:pPr marL="0" indent="0">
              <a:buNone/>
            </a:pPr>
            <a:r>
              <a:rPr lang="fr-FR" sz="2000" dirty="0"/>
              <a:t>Les séquences sont padées (complétées avec des zéros) pour avoir une longueur uniforme.</a:t>
            </a:r>
            <a:endParaRPr lang="en-US" sz="2000" dirty="0"/>
          </a:p>
          <a:p>
            <a:endParaRPr lang="en-US" dirty="0"/>
          </a:p>
          <a:p>
            <a:endParaRPr lang="en-US" dirty="0"/>
          </a:p>
          <a:p>
            <a:endParaRPr lang="en-US"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fr-FR" sz="2000" dirty="0"/>
              <a:t>Séquences avant padding : [[1], [1, 2], [1, 2, 3], [1, 2, 3, 4]]</a:t>
            </a:r>
          </a:p>
          <a:p>
            <a:r>
              <a:rPr lang="fr-FR" sz="2000" dirty="0"/>
              <a:t>                     Séquences après padding : [[0, 0, 1], [0, 1, 2], [0, 2, 3], [0, 3, 4]]</a:t>
            </a:r>
            <a:endParaRPr lang="en-US" sz="2000" dirty="0"/>
          </a:p>
        </p:txBody>
      </p:sp>
      <p:pic>
        <p:nvPicPr>
          <p:cNvPr id="8" name="Picture 7">
            <a:extLst>
              <a:ext uri="{FF2B5EF4-FFF2-40B4-BE49-F238E27FC236}">
                <a16:creationId xmlns:a16="http://schemas.microsoft.com/office/drawing/2014/main" id="{2BABEA4A-81CD-3CF3-9C03-F308C1BDDA44}"/>
              </a:ext>
            </a:extLst>
          </p:cNvPr>
          <p:cNvPicPr>
            <a:picLocks noChangeAspect="1"/>
          </p:cNvPicPr>
          <p:nvPr/>
        </p:nvPicPr>
        <p:blipFill>
          <a:blip r:embed="rId2"/>
          <a:stretch>
            <a:fillRect/>
          </a:stretch>
        </p:blipFill>
        <p:spPr>
          <a:xfrm>
            <a:off x="1024128" y="2951246"/>
            <a:ext cx="8709152" cy="2251488"/>
          </a:xfrm>
          <a:prstGeom prst="rect">
            <a:avLst/>
          </a:prstGeom>
        </p:spPr>
      </p:pic>
    </p:spTree>
    <p:extLst>
      <p:ext uri="{BB962C8B-B14F-4D97-AF65-F5344CB8AC3E}">
        <p14:creationId xmlns:p14="http://schemas.microsoft.com/office/powerpoint/2010/main" val="2111633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F96F-2CBE-8668-1EBA-F00D73E46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E5369-7DA5-242B-47DA-152EF6FFD02C}"/>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E745BDB7-F9C2-4BEE-85CF-49BFBA87AB8F}"/>
              </a:ext>
            </a:extLst>
          </p:cNvPr>
          <p:cNvSpPr>
            <a:spLocks noGrp="1"/>
          </p:cNvSpPr>
          <p:nvPr>
            <p:ph idx="1"/>
          </p:nvPr>
        </p:nvSpPr>
        <p:spPr>
          <a:xfrm>
            <a:off x="1024128" y="1991360"/>
            <a:ext cx="9720073" cy="4754880"/>
          </a:xfrm>
        </p:spPr>
        <p:txBody>
          <a:bodyPr/>
          <a:lstStyle/>
          <a:p>
            <a:r>
              <a:rPr lang="fr-FR" b="1" dirty="0">
                <a:solidFill>
                  <a:srgbClr val="7030A0"/>
                </a:solidFill>
              </a:rPr>
              <a:t>- Création des prédicteurs et des étiquettes:</a:t>
            </a:r>
          </a:p>
          <a:p>
            <a:pPr marL="0" indent="0">
              <a:buNone/>
            </a:pPr>
            <a:r>
              <a:rPr lang="fr-FR" sz="2000" dirty="0"/>
              <a:t>Les séquences sont séparées en </a:t>
            </a:r>
            <a:r>
              <a:rPr lang="fr-FR" sz="2000" b="1" dirty="0"/>
              <a:t>entrées (X)</a:t>
            </a:r>
            <a:r>
              <a:rPr lang="fr-FR" sz="2000" dirty="0"/>
              <a:t> et </a:t>
            </a:r>
            <a:r>
              <a:rPr lang="fr-FR" sz="2000" b="1" dirty="0"/>
              <a:t>cibles (Y)</a:t>
            </a:r>
            <a:r>
              <a:rPr lang="fr-FR" sz="2000" dirty="0"/>
              <a:t>, où chaque cible est le mot suivant dans la séquence.</a:t>
            </a:r>
            <a:endParaRPr lang="en-US" sz="2000" dirty="0"/>
          </a:p>
          <a:p>
            <a:endParaRPr lang="en-US" dirty="0"/>
          </a:p>
          <a:p>
            <a:endParaRPr lang="en-US"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fr-FR" sz="2000" dirty="0"/>
              <a:t>Séquences après padding : [[0, 0, 1], [0, 1, 2], [0, 2, 3], [0, 3, 4]]</a:t>
            </a:r>
          </a:p>
          <a:p>
            <a:r>
              <a:rPr lang="fr-FR" sz="2000" dirty="0"/>
              <a:t>                     Prédicteurs (X) : [[0, 0], [0, 1], [0, 2], [0, 3]]</a:t>
            </a:r>
          </a:p>
          <a:p>
            <a:r>
              <a:rPr lang="fr-FR" sz="2000" dirty="0"/>
              <a:t>                     Étiquettes (Y) : [1, 2, 3, 4] (dernier mot de chaque séquence)</a:t>
            </a:r>
            <a:endParaRPr lang="en-US" sz="2000" dirty="0"/>
          </a:p>
        </p:txBody>
      </p:sp>
      <p:pic>
        <p:nvPicPr>
          <p:cNvPr id="5" name="Picture 4">
            <a:extLst>
              <a:ext uri="{FF2B5EF4-FFF2-40B4-BE49-F238E27FC236}">
                <a16:creationId xmlns:a16="http://schemas.microsoft.com/office/drawing/2014/main" id="{12432B87-9C70-7873-E439-4DB567E59935}"/>
              </a:ext>
            </a:extLst>
          </p:cNvPr>
          <p:cNvPicPr>
            <a:picLocks noChangeAspect="1"/>
          </p:cNvPicPr>
          <p:nvPr/>
        </p:nvPicPr>
        <p:blipFill>
          <a:blip r:embed="rId2"/>
          <a:stretch>
            <a:fillRect/>
          </a:stretch>
        </p:blipFill>
        <p:spPr>
          <a:xfrm>
            <a:off x="1024129" y="3332385"/>
            <a:ext cx="8810752" cy="1199906"/>
          </a:xfrm>
          <a:prstGeom prst="rect">
            <a:avLst/>
          </a:prstGeom>
        </p:spPr>
      </p:pic>
    </p:spTree>
    <p:extLst>
      <p:ext uri="{BB962C8B-B14F-4D97-AF65-F5344CB8AC3E}">
        <p14:creationId xmlns:p14="http://schemas.microsoft.com/office/powerpoint/2010/main" val="2095064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88B1E-05A1-BCC9-951C-E92CC0819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3F2CD-EE35-16C8-4FD7-BFA329D6EE73}"/>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7D0B6AF8-8299-1CA3-CC3B-224FF31C9470}"/>
              </a:ext>
            </a:extLst>
          </p:cNvPr>
          <p:cNvSpPr>
            <a:spLocks noGrp="1"/>
          </p:cNvSpPr>
          <p:nvPr>
            <p:ph idx="1"/>
          </p:nvPr>
        </p:nvSpPr>
        <p:spPr>
          <a:xfrm>
            <a:off x="1024128" y="1991360"/>
            <a:ext cx="9720073" cy="4754880"/>
          </a:xfrm>
        </p:spPr>
        <p:txBody>
          <a:bodyPr/>
          <a:lstStyle/>
          <a:p>
            <a:r>
              <a:rPr lang="fr-FR" b="1" dirty="0">
                <a:solidFill>
                  <a:srgbClr val="7030A0"/>
                </a:solidFill>
              </a:rPr>
              <a:t>- </a:t>
            </a:r>
            <a:r>
              <a:rPr lang="en-US" b="1" dirty="0">
                <a:solidFill>
                  <a:srgbClr val="7030A0"/>
                </a:solidFill>
              </a:rPr>
              <a:t>Conversion en format one-hot</a:t>
            </a:r>
            <a:r>
              <a:rPr lang="en-US" dirty="0">
                <a:solidFill>
                  <a:srgbClr val="7030A0"/>
                </a:solidFill>
              </a:rPr>
              <a:t> </a:t>
            </a:r>
            <a:r>
              <a:rPr lang="fr-FR" b="1" dirty="0">
                <a:solidFill>
                  <a:srgbClr val="7030A0"/>
                </a:solidFill>
              </a:rPr>
              <a:t>:</a:t>
            </a:r>
          </a:p>
          <a:p>
            <a:r>
              <a:rPr lang="fr-FR" sz="2000" dirty="0"/>
              <a:t>Les cibles (Y) sont converties en vecteurs one-hot.</a:t>
            </a:r>
            <a:endParaRPr lang="en-US" sz="2000" dirty="0"/>
          </a:p>
          <a:p>
            <a:endParaRPr lang="en-US"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fr-FR" sz="2000" dirty="0"/>
              <a:t>Étiquettes : [1, 2, 3, 4]</a:t>
            </a:r>
          </a:p>
          <a:p>
            <a:r>
              <a:rPr lang="fr-FR" sz="2000" dirty="0"/>
              <a:t>                     </a:t>
            </a:r>
            <a:r>
              <a:rPr lang="en-US" sz="2000" dirty="0"/>
              <a:t>One-hot : [[0., 1., 0., 0.], [0., 0., 1., 0.], [0., 0., 0., 1.], [0., 0., 0., 0.]]</a:t>
            </a:r>
          </a:p>
          <a:p>
            <a:endParaRPr lang="en-US" sz="2000" dirty="0"/>
          </a:p>
        </p:txBody>
      </p:sp>
      <p:pic>
        <p:nvPicPr>
          <p:cNvPr id="7" name="Picture 6">
            <a:extLst>
              <a:ext uri="{FF2B5EF4-FFF2-40B4-BE49-F238E27FC236}">
                <a16:creationId xmlns:a16="http://schemas.microsoft.com/office/drawing/2014/main" id="{E8CEC71C-312D-145D-24D3-5AEFF49B4D15}"/>
              </a:ext>
            </a:extLst>
          </p:cNvPr>
          <p:cNvPicPr>
            <a:picLocks noChangeAspect="1"/>
          </p:cNvPicPr>
          <p:nvPr/>
        </p:nvPicPr>
        <p:blipFill>
          <a:blip r:embed="rId2"/>
          <a:stretch>
            <a:fillRect/>
          </a:stretch>
        </p:blipFill>
        <p:spPr>
          <a:xfrm>
            <a:off x="1115567" y="3104407"/>
            <a:ext cx="8577073" cy="959593"/>
          </a:xfrm>
          <a:prstGeom prst="rect">
            <a:avLst/>
          </a:prstGeom>
        </p:spPr>
      </p:pic>
    </p:spTree>
    <p:extLst>
      <p:ext uri="{BB962C8B-B14F-4D97-AF65-F5344CB8AC3E}">
        <p14:creationId xmlns:p14="http://schemas.microsoft.com/office/powerpoint/2010/main" val="1454267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4D2A-9A9C-9B45-C55F-E785883A4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44265-0A3B-AAFD-2C77-51C00CC0FAF6}"/>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BBE452C1-199B-3C91-3826-367373C1CFF9}"/>
              </a:ext>
            </a:extLst>
          </p:cNvPr>
          <p:cNvSpPr>
            <a:spLocks noGrp="1"/>
          </p:cNvSpPr>
          <p:nvPr>
            <p:ph idx="1"/>
          </p:nvPr>
        </p:nvSpPr>
        <p:spPr>
          <a:xfrm>
            <a:off x="1024128" y="1991360"/>
            <a:ext cx="9720073" cy="4754880"/>
          </a:xfrm>
        </p:spPr>
        <p:txBody>
          <a:bodyPr/>
          <a:lstStyle/>
          <a:p>
            <a:r>
              <a:rPr lang="fr-FR" b="1" dirty="0">
                <a:solidFill>
                  <a:srgbClr val="7030A0"/>
                </a:solidFill>
              </a:rPr>
              <a:t>- </a:t>
            </a:r>
            <a:r>
              <a:rPr lang="en-US" b="1" dirty="0">
                <a:solidFill>
                  <a:srgbClr val="7030A0"/>
                </a:solidFill>
              </a:rPr>
              <a:t>Division des données</a:t>
            </a:r>
            <a:r>
              <a:rPr lang="fr-FR" b="1" dirty="0">
                <a:solidFill>
                  <a:srgbClr val="7030A0"/>
                </a:solidFill>
              </a:rPr>
              <a:t>:</a:t>
            </a:r>
          </a:p>
          <a:p>
            <a:r>
              <a:rPr lang="fr-FR" sz="2000" dirty="0"/>
              <a:t>Les données sont divisées en ensembles d'entraînement et de test (80/20) pour l'entraînement et l'évaluation du modèle</a:t>
            </a:r>
            <a:endParaRPr lang="en-US" sz="2000" dirty="0"/>
          </a:p>
          <a:p>
            <a:endParaRPr lang="en-US" dirty="0"/>
          </a:p>
          <a:p>
            <a:endParaRPr lang="en-US" dirty="0"/>
          </a:p>
          <a:p>
            <a:r>
              <a:rPr lang="en-US" dirty="0"/>
              <a:t>- </a:t>
            </a:r>
            <a:r>
              <a:rPr lang="en-US" b="1" dirty="0">
                <a:solidFill>
                  <a:schemeClr val="accent6">
                    <a:lumMod val="50000"/>
                  </a:schemeClr>
                </a:solidFill>
              </a:rPr>
              <a:t>Exemple</a:t>
            </a:r>
            <a:r>
              <a:rPr lang="en-US" dirty="0"/>
              <a:t> :  </a:t>
            </a:r>
            <a:r>
              <a:rPr lang="fr-FR" sz="2000" dirty="0"/>
              <a:t>Prédicteurs : [[0, 0], [0, 1], [0, 2], [0, 3]]</a:t>
            </a:r>
          </a:p>
          <a:p>
            <a:r>
              <a:rPr lang="fr-FR" sz="2000" dirty="0"/>
              <a:t>                     Étiquettes : [[0., 1., 0., 0.], [0., 0., 1., 0.], [0., 0., 0., 1.], [0., 0., 0., 0.]]</a:t>
            </a:r>
          </a:p>
          <a:p>
            <a:r>
              <a:rPr lang="fr-FR" sz="2000" dirty="0"/>
              <a:t>                     Divisé en 80% pour l'entraînement et 20% pour le test</a:t>
            </a:r>
            <a:endParaRPr lang="en-US" sz="2000" dirty="0"/>
          </a:p>
        </p:txBody>
      </p:sp>
      <p:pic>
        <p:nvPicPr>
          <p:cNvPr id="5" name="Picture 4">
            <a:extLst>
              <a:ext uri="{FF2B5EF4-FFF2-40B4-BE49-F238E27FC236}">
                <a16:creationId xmlns:a16="http://schemas.microsoft.com/office/drawing/2014/main" id="{CF0442B3-18C4-1F85-0834-E7CA7F9798A2}"/>
              </a:ext>
            </a:extLst>
          </p:cNvPr>
          <p:cNvPicPr>
            <a:picLocks noChangeAspect="1"/>
          </p:cNvPicPr>
          <p:nvPr/>
        </p:nvPicPr>
        <p:blipFill>
          <a:blip r:embed="rId2"/>
          <a:stretch>
            <a:fillRect/>
          </a:stretch>
        </p:blipFill>
        <p:spPr>
          <a:xfrm>
            <a:off x="1024128" y="3331063"/>
            <a:ext cx="8470162" cy="722982"/>
          </a:xfrm>
          <a:prstGeom prst="rect">
            <a:avLst/>
          </a:prstGeom>
        </p:spPr>
      </p:pic>
    </p:spTree>
    <p:extLst>
      <p:ext uri="{BB962C8B-B14F-4D97-AF65-F5344CB8AC3E}">
        <p14:creationId xmlns:p14="http://schemas.microsoft.com/office/powerpoint/2010/main" val="4195305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67A3F-C604-7D2A-DE38-9E67422B7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2E907-A9DF-6366-E331-C991088CF986}"/>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2- Data Preprocessing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6FC850A9-CA7B-F101-8337-F3B894A827C5}"/>
              </a:ext>
            </a:extLst>
          </p:cNvPr>
          <p:cNvSpPr>
            <a:spLocks noGrp="1"/>
          </p:cNvSpPr>
          <p:nvPr>
            <p:ph idx="1"/>
          </p:nvPr>
        </p:nvSpPr>
        <p:spPr>
          <a:xfrm>
            <a:off x="1024128" y="1534160"/>
            <a:ext cx="9720073" cy="5323840"/>
          </a:xfrm>
        </p:spPr>
        <p:txBody>
          <a:bodyPr>
            <a:normAutofit/>
          </a:bodyPr>
          <a:lstStyle/>
          <a:p>
            <a:pPr marL="0" indent="0">
              <a:buNone/>
            </a:pPr>
            <a:endParaRPr lang="fr-FR" b="1" dirty="0">
              <a:solidFill>
                <a:srgbClr val="7030A0"/>
              </a:solidFill>
            </a:endParaRPr>
          </a:p>
          <a:p>
            <a:r>
              <a:rPr lang="fr-FR" b="1" dirty="0">
                <a:solidFill>
                  <a:srgbClr val="7030A0"/>
                </a:solidFill>
              </a:rPr>
              <a:t>- </a:t>
            </a:r>
            <a:r>
              <a:rPr lang="en-US" b="1" dirty="0">
                <a:solidFill>
                  <a:srgbClr val="7030A0"/>
                </a:solidFill>
              </a:rPr>
              <a:t>Resume </a:t>
            </a:r>
            <a:r>
              <a:rPr lang="fr-FR" b="1" dirty="0">
                <a:solidFill>
                  <a:srgbClr val="7030A0"/>
                </a:solidFill>
              </a:rPr>
              <a:t>: </a:t>
            </a:r>
          </a:p>
          <a:p>
            <a:endParaRPr lang="fr-FR" b="1" dirty="0">
              <a:solidFill>
                <a:srgbClr val="7030A0"/>
              </a:solidFill>
            </a:endParaRPr>
          </a:p>
          <a:p>
            <a:r>
              <a:rPr lang="fr-FR" dirty="0">
                <a:solidFill>
                  <a:schemeClr val="tx1">
                    <a:lumMod val="95000"/>
                    <a:lumOff val="5000"/>
                  </a:schemeClr>
                </a:solidFill>
              </a:rPr>
              <a:t>Chargement du texte : "I love deep learning"</a:t>
            </a:r>
          </a:p>
          <a:p>
            <a:r>
              <a:rPr lang="fr-FR" dirty="0">
                <a:solidFill>
                  <a:schemeClr val="tx1">
                    <a:lumMod val="95000"/>
                    <a:lumOff val="5000"/>
                  </a:schemeClr>
                </a:solidFill>
              </a:rPr>
              <a:t>Tokenisation : {'i': 1, 'love': 2, 'deep ': 3, 'learning ': 4}</a:t>
            </a:r>
          </a:p>
          <a:p>
            <a:r>
              <a:rPr lang="fr-FR" dirty="0">
                <a:solidFill>
                  <a:schemeClr val="tx1">
                    <a:lumMod val="95000"/>
                    <a:lumOff val="5000"/>
                  </a:schemeClr>
                </a:solidFill>
              </a:rPr>
              <a:t>Création des séquences : [[1], [1, 2], [1, 2, 3], [1, 2, 3, 4]]</a:t>
            </a:r>
          </a:p>
          <a:p>
            <a:r>
              <a:rPr lang="fr-FR" dirty="0">
                <a:solidFill>
                  <a:schemeClr val="tx1">
                    <a:lumMod val="95000"/>
                    <a:lumOff val="5000"/>
                  </a:schemeClr>
                </a:solidFill>
              </a:rPr>
              <a:t>Padding : [[0, 0, 1], [0, 1, 2], [0, 2, 3], [0, 3, 4]]</a:t>
            </a:r>
          </a:p>
          <a:p>
            <a:r>
              <a:rPr lang="fr-FR" dirty="0">
                <a:solidFill>
                  <a:schemeClr val="tx1">
                    <a:lumMod val="95000"/>
                    <a:lumOff val="5000"/>
                  </a:schemeClr>
                </a:solidFill>
              </a:rPr>
              <a:t>Prédicteurs et étiquettes : X = [[0, 0], [0, 1], [0, 2], [0, 3]], Y = [1, 2, 3, 4]</a:t>
            </a:r>
          </a:p>
          <a:p>
            <a:r>
              <a:rPr lang="fr-FR" dirty="0">
                <a:solidFill>
                  <a:schemeClr val="tx1">
                    <a:lumMod val="95000"/>
                    <a:lumOff val="5000"/>
                  </a:schemeClr>
                </a:solidFill>
              </a:rPr>
              <a:t>One-hot : [[0., 1., 0., 0., 0.], [0., 0., 1., 0., 0.], [0., 0., 0., 1., 0.], [0., 0., 0., 0., 1.]]</a:t>
            </a:r>
          </a:p>
          <a:p>
            <a:r>
              <a:rPr lang="fr-FR" dirty="0">
                <a:solidFill>
                  <a:schemeClr val="tx1">
                    <a:lumMod val="95000"/>
                    <a:lumOff val="5000"/>
                  </a:schemeClr>
                </a:solidFill>
              </a:rPr>
              <a:t>Division : 80% pour l'entraînement, 20% pour le test.</a:t>
            </a:r>
          </a:p>
        </p:txBody>
      </p:sp>
    </p:spTree>
    <p:extLst>
      <p:ext uri="{BB962C8B-B14F-4D97-AF65-F5344CB8AC3E}">
        <p14:creationId xmlns:p14="http://schemas.microsoft.com/office/powerpoint/2010/main" val="2312523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927BF-0215-8891-F776-BCB62301E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333BD-8699-76D9-E34D-879D3B07B5EC}"/>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3- Model Building</a:t>
            </a:r>
          </a:p>
        </p:txBody>
      </p:sp>
      <p:sp>
        <p:nvSpPr>
          <p:cNvPr id="3" name="Content Placeholder 2">
            <a:extLst>
              <a:ext uri="{FF2B5EF4-FFF2-40B4-BE49-F238E27FC236}">
                <a16:creationId xmlns:a16="http://schemas.microsoft.com/office/drawing/2014/main" id="{D2FD8CEB-658B-6866-2B66-4513D55D1C8F}"/>
              </a:ext>
            </a:extLst>
          </p:cNvPr>
          <p:cNvSpPr>
            <a:spLocks noGrp="1"/>
          </p:cNvSpPr>
          <p:nvPr>
            <p:ph idx="1"/>
          </p:nvPr>
        </p:nvSpPr>
        <p:spPr/>
        <p:txBody>
          <a:bodyPr/>
          <a:lstStyle/>
          <a:p>
            <a:r>
              <a:rPr lang="fr-FR" dirty="0"/>
              <a:t>Un modèle LSTM est construit avec une couche d'</a:t>
            </a:r>
            <a:r>
              <a:rPr lang="fr-FR" dirty="0" err="1"/>
              <a:t>embedding</a:t>
            </a:r>
            <a:r>
              <a:rPr lang="fr-FR" dirty="0"/>
              <a:t> , deux couches LSTM et une couche de sortie dense avec une fonction d'activation softmax pour prédire la probabilité du mot suivant.</a:t>
            </a:r>
            <a:endParaRPr lang="en-US" dirty="0"/>
          </a:p>
        </p:txBody>
      </p:sp>
      <p:pic>
        <p:nvPicPr>
          <p:cNvPr id="5" name="Picture 4">
            <a:extLst>
              <a:ext uri="{FF2B5EF4-FFF2-40B4-BE49-F238E27FC236}">
                <a16:creationId xmlns:a16="http://schemas.microsoft.com/office/drawing/2014/main" id="{2CAB88EA-8322-F86D-4153-4F5E14402017}"/>
              </a:ext>
            </a:extLst>
          </p:cNvPr>
          <p:cNvPicPr>
            <a:picLocks noChangeAspect="1"/>
          </p:cNvPicPr>
          <p:nvPr/>
        </p:nvPicPr>
        <p:blipFill>
          <a:blip r:embed="rId2"/>
          <a:stretch>
            <a:fillRect/>
          </a:stretch>
        </p:blipFill>
        <p:spPr>
          <a:xfrm>
            <a:off x="89322" y="3429000"/>
            <a:ext cx="6738198" cy="3246788"/>
          </a:xfrm>
          <a:prstGeom prst="rect">
            <a:avLst/>
          </a:prstGeom>
        </p:spPr>
      </p:pic>
      <p:pic>
        <p:nvPicPr>
          <p:cNvPr id="7" name="Picture 6">
            <a:extLst>
              <a:ext uri="{FF2B5EF4-FFF2-40B4-BE49-F238E27FC236}">
                <a16:creationId xmlns:a16="http://schemas.microsoft.com/office/drawing/2014/main" id="{77AC9F61-A5C1-9C82-775A-DD8FC93C0B06}"/>
              </a:ext>
            </a:extLst>
          </p:cNvPr>
          <p:cNvPicPr>
            <a:picLocks noChangeAspect="1"/>
          </p:cNvPicPr>
          <p:nvPr/>
        </p:nvPicPr>
        <p:blipFill>
          <a:blip r:embed="rId3"/>
          <a:stretch>
            <a:fillRect/>
          </a:stretch>
        </p:blipFill>
        <p:spPr>
          <a:xfrm>
            <a:off x="7152555" y="3873834"/>
            <a:ext cx="4626758" cy="2110406"/>
          </a:xfrm>
          <a:prstGeom prst="rect">
            <a:avLst/>
          </a:prstGeom>
        </p:spPr>
      </p:pic>
    </p:spTree>
    <p:extLst>
      <p:ext uri="{BB962C8B-B14F-4D97-AF65-F5344CB8AC3E}">
        <p14:creationId xmlns:p14="http://schemas.microsoft.com/office/powerpoint/2010/main" val="2869615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E00C4-095C-C376-648F-0ED50523C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EFF7F-83B3-880B-1310-4DAD13873D2E}"/>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4- Model Training</a:t>
            </a:r>
            <a:br>
              <a:rPr lang="en-US" b="0" dirty="0">
                <a:solidFill>
                  <a:schemeClr val="tx2">
                    <a:lumMod val="50000"/>
                  </a:schemeClr>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5471ADFC-3275-0A9B-CD85-35CDFA1E6A14}"/>
              </a:ext>
            </a:extLst>
          </p:cNvPr>
          <p:cNvSpPr>
            <a:spLocks noGrp="1"/>
          </p:cNvSpPr>
          <p:nvPr>
            <p:ph idx="1"/>
          </p:nvPr>
        </p:nvSpPr>
        <p:spPr/>
        <p:txBody>
          <a:bodyPr/>
          <a:lstStyle/>
          <a:p>
            <a:r>
              <a:rPr lang="fr-FR" dirty="0"/>
              <a:t>Le modèle est entraîné en utilisant les séquences préparées, avec une stratégie d'arrêt anticipé (early shoppings) mise en place pour éviter le surapprentissage. L'arrêt anticipé surveille la perte de validation et interrompt l'entraînement lorsque celle-ci cesse de s'améliorer.</a:t>
            </a:r>
          </a:p>
          <a:p>
            <a:endParaRPr lang="fr-FR" dirty="0"/>
          </a:p>
          <a:p>
            <a:endParaRPr lang="en-US" dirty="0"/>
          </a:p>
        </p:txBody>
      </p:sp>
      <p:pic>
        <p:nvPicPr>
          <p:cNvPr id="6" name="Picture 5">
            <a:extLst>
              <a:ext uri="{FF2B5EF4-FFF2-40B4-BE49-F238E27FC236}">
                <a16:creationId xmlns:a16="http://schemas.microsoft.com/office/drawing/2014/main" id="{AC1BCBC7-D0D9-649F-59C8-8503CC178693}"/>
              </a:ext>
            </a:extLst>
          </p:cNvPr>
          <p:cNvPicPr>
            <a:picLocks noChangeAspect="1"/>
          </p:cNvPicPr>
          <p:nvPr/>
        </p:nvPicPr>
        <p:blipFill>
          <a:blip r:embed="rId2"/>
          <a:stretch>
            <a:fillRect/>
          </a:stretch>
        </p:blipFill>
        <p:spPr>
          <a:xfrm>
            <a:off x="1024128" y="3796897"/>
            <a:ext cx="9979152" cy="1241344"/>
          </a:xfrm>
          <a:prstGeom prst="rect">
            <a:avLst/>
          </a:prstGeom>
        </p:spPr>
      </p:pic>
    </p:spTree>
    <p:extLst>
      <p:ext uri="{BB962C8B-B14F-4D97-AF65-F5344CB8AC3E}">
        <p14:creationId xmlns:p14="http://schemas.microsoft.com/office/powerpoint/2010/main" val="120456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8BC7C-336F-70CC-75F0-51A8F1B3B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B8618-CCD2-E1C4-A5B1-569BDC6A37A9}"/>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5- Model Evaluation</a:t>
            </a:r>
            <a:br>
              <a:rPr lang="en-US" b="0" dirty="0">
                <a:solidFill>
                  <a:schemeClr val="tx2">
                    <a:lumMod val="50000"/>
                  </a:schemeClr>
                </a:solidFill>
                <a:effectLst/>
                <a:latin typeface="Consolas" panose="020B0609020204030204" pitchFamily="49" charset="0"/>
              </a:rPr>
            </a:br>
            <a:endParaRPr lang="en-US" dirty="0"/>
          </a:p>
        </p:txBody>
      </p:sp>
      <p:sp>
        <p:nvSpPr>
          <p:cNvPr id="4" name="Rectangle 1">
            <a:extLst>
              <a:ext uri="{FF2B5EF4-FFF2-40B4-BE49-F238E27FC236}">
                <a16:creationId xmlns:a16="http://schemas.microsoft.com/office/drawing/2014/main" id="{D9598582-E96D-6F09-7B47-F5E7F3F31378}"/>
              </a:ext>
            </a:extLst>
          </p:cNvPr>
          <p:cNvSpPr>
            <a:spLocks noGrp="1" noChangeArrowheads="1"/>
          </p:cNvSpPr>
          <p:nvPr>
            <p:ph idx="1"/>
          </p:nvPr>
        </p:nvSpPr>
        <p:spPr bwMode="auto">
          <a:xfrm>
            <a:off x="1024128" y="2084832"/>
            <a:ext cx="84401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 modèle est évalué à l'aide d'un ensemble de phrases exemples afin de tester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sa capacité à prédire précisément le mot suivant.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AC5927B-7855-6E89-EF96-2777DD413281}"/>
              </a:ext>
            </a:extLst>
          </p:cNvPr>
          <p:cNvPicPr>
            <a:picLocks noChangeAspect="1"/>
          </p:cNvPicPr>
          <p:nvPr/>
        </p:nvPicPr>
        <p:blipFill>
          <a:blip r:embed="rId2"/>
          <a:stretch>
            <a:fillRect/>
          </a:stretch>
        </p:blipFill>
        <p:spPr>
          <a:xfrm>
            <a:off x="1024128" y="3112727"/>
            <a:ext cx="10202712" cy="3320883"/>
          </a:xfrm>
          <a:prstGeom prst="rect">
            <a:avLst/>
          </a:prstGeom>
        </p:spPr>
      </p:pic>
    </p:spTree>
    <p:extLst>
      <p:ext uri="{BB962C8B-B14F-4D97-AF65-F5344CB8AC3E}">
        <p14:creationId xmlns:p14="http://schemas.microsoft.com/office/powerpoint/2010/main" val="2033648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4486D-77BD-8EA0-3EDD-C132A21A4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1BA8D-4BED-591D-1E93-74EFA31A2E9C}"/>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5- Model Evaluation</a:t>
            </a:r>
            <a:br>
              <a:rPr lang="en-US" b="0" dirty="0">
                <a:solidFill>
                  <a:schemeClr val="tx2">
                    <a:lumMod val="50000"/>
                  </a:schemeClr>
                </a:solidFill>
                <a:effectLst/>
                <a:latin typeface="Consolas" panose="020B0609020204030204" pitchFamily="49" charset="0"/>
              </a:rPr>
            </a:br>
            <a:endParaRPr lang="en-US" dirty="0"/>
          </a:p>
        </p:txBody>
      </p:sp>
      <p:sp>
        <p:nvSpPr>
          <p:cNvPr id="4" name="Rectangle 1">
            <a:extLst>
              <a:ext uri="{FF2B5EF4-FFF2-40B4-BE49-F238E27FC236}">
                <a16:creationId xmlns:a16="http://schemas.microsoft.com/office/drawing/2014/main" id="{F5E010BF-B743-D12D-596C-438DD15D2719}"/>
              </a:ext>
            </a:extLst>
          </p:cNvPr>
          <p:cNvSpPr>
            <a:spLocks noGrp="1" noChangeArrowheads="1"/>
          </p:cNvSpPr>
          <p:nvPr>
            <p:ph idx="1"/>
          </p:nvPr>
        </p:nvSpPr>
        <p:spPr bwMode="auto">
          <a:xfrm>
            <a:off x="1024128" y="2084832"/>
            <a:ext cx="84401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 modèle est évalué à l'aide d'un ensemble de phrases exemples afin de tester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sa capacité à prédire précisément le mot suivant.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BE371597-B06B-461E-1BC3-58B7B403D58C}"/>
              </a:ext>
            </a:extLst>
          </p:cNvPr>
          <p:cNvPicPr>
            <a:picLocks noChangeAspect="1"/>
          </p:cNvPicPr>
          <p:nvPr/>
        </p:nvPicPr>
        <p:blipFill>
          <a:blip r:embed="rId2"/>
          <a:stretch>
            <a:fillRect/>
          </a:stretch>
        </p:blipFill>
        <p:spPr>
          <a:xfrm>
            <a:off x="1053081" y="3052161"/>
            <a:ext cx="9691119" cy="2248097"/>
          </a:xfrm>
          <a:prstGeom prst="rect">
            <a:avLst/>
          </a:prstGeom>
        </p:spPr>
      </p:pic>
      <p:pic>
        <p:nvPicPr>
          <p:cNvPr id="8" name="Picture 7">
            <a:extLst>
              <a:ext uri="{FF2B5EF4-FFF2-40B4-BE49-F238E27FC236}">
                <a16:creationId xmlns:a16="http://schemas.microsoft.com/office/drawing/2014/main" id="{CF3EA057-6E67-3493-4520-8163D8D639DB}"/>
              </a:ext>
            </a:extLst>
          </p:cNvPr>
          <p:cNvPicPr>
            <a:picLocks noChangeAspect="1"/>
          </p:cNvPicPr>
          <p:nvPr/>
        </p:nvPicPr>
        <p:blipFill>
          <a:blip r:embed="rId3"/>
          <a:stretch>
            <a:fillRect/>
          </a:stretch>
        </p:blipFill>
        <p:spPr>
          <a:xfrm>
            <a:off x="3240593" y="5422178"/>
            <a:ext cx="4755327" cy="1252519"/>
          </a:xfrm>
          <a:prstGeom prst="rect">
            <a:avLst/>
          </a:prstGeom>
        </p:spPr>
      </p:pic>
    </p:spTree>
    <p:extLst>
      <p:ext uri="{BB962C8B-B14F-4D97-AF65-F5344CB8AC3E}">
        <p14:creationId xmlns:p14="http://schemas.microsoft.com/office/powerpoint/2010/main" val="3123742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AF62B-11B8-B174-CEF5-FB9C50AAB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5D59D-86FE-E7A5-AB65-AAF364C02CB0}"/>
              </a:ext>
            </a:extLst>
          </p:cNvPr>
          <p:cNvSpPr>
            <a:spLocks noGrp="1"/>
          </p:cNvSpPr>
          <p:nvPr>
            <p:ph type="title"/>
          </p:nvPr>
        </p:nvSpPr>
        <p:spPr/>
        <p:txBody>
          <a:bodyPr/>
          <a:lstStyle/>
          <a:p>
            <a:r>
              <a:rPr lang="en-US" b="0" dirty="0">
                <a:solidFill>
                  <a:schemeClr val="tx2">
                    <a:lumMod val="50000"/>
                  </a:schemeClr>
                </a:solidFill>
                <a:effectLst/>
                <a:latin typeface="Consolas" panose="020B0609020204030204" pitchFamily="49" charset="0"/>
              </a:rPr>
              <a:t>6- Deployment</a:t>
            </a:r>
            <a:br>
              <a:rPr lang="en-US" b="0" dirty="0">
                <a:solidFill>
                  <a:schemeClr val="tx2">
                    <a:lumMod val="50000"/>
                  </a:schemeClr>
                </a:solidFill>
                <a:effectLst/>
                <a:latin typeface="Consolas" panose="020B0609020204030204" pitchFamily="49" charset="0"/>
              </a:rPr>
            </a:br>
            <a:endParaRPr lang="en-US" dirty="0"/>
          </a:p>
        </p:txBody>
      </p:sp>
      <p:sp>
        <p:nvSpPr>
          <p:cNvPr id="4" name="Rectangle 1">
            <a:extLst>
              <a:ext uri="{FF2B5EF4-FFF2-40B4-BE49-F238E27FC236}">
                <a16:creationId xmlns:a16="http://schemas.microsoft.com/office/drawing/2014/main" id="{4E484760-ADB0-74C9-EB86-14FC3A083565}"/>
              </a:ext>
            </a:extLst>
          </p:cNvPr>
          <p:cNvSpPr>
            <a:spLocks noGrp="1" noChangeArrowheads="1"/>
          </p:cNvSpPr>
          <p:nvPr>
            <p:ph idx="1"/>
          </p:nvPr>
        </p:nvSpPr>
        <p:spPr bwMode="auto">
          <a:xfrm>
            <a:off x="1024128" y="1875135"/>
            <a:ext cx="903324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Une application web Streamlit est développée pour permettre aux utilisateurs de saisir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une séquence de mots et d'obtenir le mot suivant prédit en temps réel.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BE61FC53-7647-6C45-C4A9-88ABD1BF3EAE}"/>
              </a:ext>
            </a:extLst>
          </p:cNvPr>
          <p:cNvPicPr>
            <a:picLocks noChangeAspect="1"/>
          </p:cNvPicPr>
          <p:nvPr/>
        </p:nvPicPr>
        <p:blipFill>
          <a:blip r:embed="rId2"/>
          <a:stretch>
            <a:fillRect/>
          </a:stretch>
        </p:blipFill>
        <p:spPr>
          <a:xfrm>
            <a:off x="1703241" y="2982203"/>
            <a:ext cx="7735399" cy="3722998"/>
          </a:xfrm>
          <a:prstGeom prst="rect">
            <a:avLst/>
          </a:prstGeom>
        </p:spPr>
      </p:pic>
    </p:spTree>
    <p:extLst>
      <p:ext uri="{BB962C8B-B14F-4D97-AF65-F5344CB8AC3E}">
        <p14:creationId xmlns:p14="http://schemas.microsoft.com/office/powerpoint/2010/main" val="3901908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D5E1-05E9-77EC-2F06-928C5DE2EC16}"/>
              </a:ext>
            </a:extLst>
          </p:cNvPr>
          <p:cNvSpPr>
            <a:spLocks noGrp="1"/>
          </p:cNvSpPr>
          <p:nvPr>
            <p:ph type="title"/>
          </p:nvPr>
        </p:nvSpPr>
        <p:spPr/>
        <p:txBody>
          <a:bodyPr/>
          <a:lstStyle/>
          <a:p>
            <a:r>
              <a:rPr lang="en-US" dirty="0"/>
              <a:t>Merci </a:t>
            </a:r>
          </a:p>
        </p:txBody>
      </p:sp>
    </p:spTree>
    <p:extLst>
      <p:ext uri="{BB962C8B-B14F-4D97-AF65-F5344CB8AC3E}">
        <p14:creationId xmlns:p14="http://schemas.microsoft.com/office/powerpoint/2010/main" val="6145779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 design</Template>
  <TotalTime>1758</TotalTime>
  <Words>1463</Words>
  <Application>Microsoft Office PowerPoint</Application>
  <PresentationFormat>Widescreen</PresentationFormat>
  <Paragraphs>139</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Consolas</vt:lpstr>
      <vt:lpstr>Mulish</vt:lpstr>
      <vt:lpstr>Tw Cen MT</vt:lpstr>
      <vt:lpstr>Tw Cen MT Condensed</vt:lpstr>
      <vt:lpstr>Wingdings 3</vt:lpstr>
      <vt:lpstr>Integral</vt:lpstr>
      <vt:lpstr>  Next Word Prediction Using LSTM</vt:lpstr>
      <vt:lpstr>Objectif :</vt:lpstr>
      <vt:lpstr>Réseaux Neuronaux Récurrents</vt:lpstr>
      <vt:lpstr>Qu’est ce que le vanishing/ exploding Gradient Problem ?</vt:lpstr>
      <vt:lpstr>Qu’est ce que le vanishing/ exploding Gradient Problem ?</vt:lpstr>
      <vt:lpstr>Comment les LSTM permettent d’éviter le vanishing gradient ?</vt:lpstr>
      <vt:lpstr>Comment les LSTM permettent d’éviter le vanishing gradient ?</vt:lpstr>
      <vt:lpstr>Comment les LSTM permettent d’éviter le vanishing gradient ?</vt:lpstr>
      <vt:lpstr>Demonstration</vt:lpstr>
      <vt:lpstr>1- Data Collection</vt:lpstr>
      <vt:lpstr>2- Data Preprocessing </vt:lpstr>
      <vt:lpstr>2- Data Preprocessing </vt:lpstr>
      <vt:lpstr>2- Data Preprocessing </vt:lpstr>
      <vt:lpstr>2- Data Preprocessing </vt:lpstr>
      <vt:lpstr>2- Data Preprocessing </vt:lpstr>
      <vt:lpstr>2- Data Preprocessing </vt:lpstr>
      <vt:lpstr>2- Data Preprocessing </vt:lpstr>
      <vt:lpstr>2- Data Preprocessing </vt:lpstr>
      <vt:lpstr>3- Model Building</vt:lpstr>
      <vt:lpstr>4- Model Training </vt:lpstr>
      <vt:lpstr>5- Model Evaluation </vt:lpstr>
      <vt:lpstr>5- Model Evaluation </vt:lpstr>
      <vt:lpstr>6- Deployment </vt:lpstr>
      <vt:lpstr>Merci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hind.cherrat@um5r.ac.ma</dc:creator>
  <cp:lastModifiedBy>hind.cherrat@um5r.ac.ma</cp:lastModifiedBy>
  <cp:revision>6</cp:revision>
  <dcterms:created xsi:type="dcterms:W3CDTF">2025-03-26T16:18:53Z</dcterms:created>
  <dcterms:modified xsi:type="dcterms:W3CDTF">2025-03-27T21:37:45Z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